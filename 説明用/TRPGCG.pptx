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80" r:id="rId11"/>
    <p:sldId id="264" r:id="rId12"/>
    <p:sldId id="266" r:id="rId13"/>
    <p:sldId id="267" r:id="rId14"/>
    <p:sldId id="270" r:id="rId15"/>
    <p:sldId id="271" r:id="rId16"/>
    <p:sldId id="269" r:id="rId17"/>
    <p:sldId id="272" r:id="rId18"/>
    <p:sldId id="273" r:id="rId19"/>
    <p:sldId id="274" r:id="rId20"/>
    <p:sldId id="275" r:id="rId21"/>
    <p:sldId id="276" r:id="rId22"/>
    <p:sldId id="279" r:id="rId23"/>
    <p:sldId id="268" r:id="rId24"/>
    <p:sldId id="277" r:id="rId25"/>
    <p:sldId id="278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17"/>
    <p:restoredTop sz="94648"/>
  </p:normalViewPr>
  <p:slideViewPr>
    <p:cSldViewPr snapToGrid="0">
      <p:cViewPr varScale="1">
        <p:scale>
          <a:sx n="104" d="100"/>
          <a:sy n="104" d="100"/>
        </p:scale>
        <p:origin x="24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3C23B7-A54C-93EC-B378-6A16DE0DA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46C749-361F-7689-4E57-57656ED83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05E4A7-95F8-F265-8BF6-77C0790A0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27965D-7F22-6AD2-34F7-9473BE1B8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11FFCA-5AC1-703E-9125-53FA29F6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1385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C0F571-617C-C031-9AB2-3C12D611D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16342A-8659-0BBA-ABCD-8D27442F2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9B4E17-4806-B253-AB3C-E62CA6E02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C3DBF2-CD32-244A-E2EC-14FDE1F3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6A31AC-DC4F-D5E6-6683-DCA926FA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6802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4B71E7-B652-0211-DDF5-6A779E080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B3E01F-D139-FD68-38B8-B2D0A3D9A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B58317-D223-E3D7-C4F4-80608C6AD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F8AA1B-6B46-A621-1383-38E4C50AC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F9827C-4D56-FB47-9D26-52AAD381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319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981080-A6BE-5437-284E-E5F50282A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BFB503-98A7-398A-5450-9F8E4A3B7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3AA6BD-AF0A-30C7-9B84-E5CFD6193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74E205-ADD8-C3A1-2DBD-8816DF867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ECF36E-AD40-9DD5-24AF-2C2B9422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4BDA22-3899-EEE3-03DA-6671E024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802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E0731-2251-42A2-ED38-EDCE1C49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CF3347-C315-4879-3E2D-28AA1C903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42DE7B-87F8-3CDC-5C85-16827232B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531DE63-AEE3-FF85-96E2-CEE7592B5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8B78EDB-7FB5-2D29-5C1B-0EAAA0436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B13052-17B1-907B-9B49-F481B1D0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223032-0C42-67E5-C7A8-6B5384669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481FD6-E104-C1EB-3A15-F4B9B5A0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3605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44447E-D9C1-B161-70F8-30252612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4DD3663-CD8F-CAC7-7565-62498190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57EFF4-D3B3-1979-1FAB-6104D944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08D50EC-C77A-3A3E-0B14-E311353F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5325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2639F4D-A96C-CAD5-A25A-59B655B7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C516A56-4A52-4F78-3C02-03908C6DC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487D25-CD59-5DCB-D21F-B8DF9726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55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8F4C36-A448-0282-5972-8C758ED5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A568DA-B6D8-6A44-CA8B-557EEA669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C680E0-FBC7-934B-368F-34B15EE30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85D977-7B62-AB84-BF5F-78317F99B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AD62F0-2AE1-0635-1AC0-56414CA4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B1AE37-3764-7DCC-FA57-7CE7B4E1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0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3055AC-56FC-1096-BE24-CA0B6F12E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0BAE8A1-409B-DB3B-86C0-3195E68C6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049521-EBE8-5570-276B-659D07079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1EAB1B-46C7-B6C9-D129-618D62426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177FB3-27E5-5066-4DFD-B693A1DDB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0E6C83-7E71-4E15-A415-A5259B5C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703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C492EC-F3E2-9AC8-19CB-C9B654655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59E693F-F5A5-81E2-DB29-EE6BEE27C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0A63AF-8672-1165-2024-C5857F7B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3FD9E7-EB70-9A24-C8AB-6F9171A5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8A25F3-9732-22E5-3FCF-555E4146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09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979A10A-1072-7B64-5A39-98DD0C33F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0D1684-CEE6-D2BD-622C-E15B4D975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3E8900-011E-FA35-FD6B-8DE43CF9F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BC0138-BF08-4E40-E984-F0ADD2837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1983E1-EB31-6F43-BFCE-D25E8A64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175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149A218-4B48-D810-4A93-4E94EEEEE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F25B68-7F5B-2922-2137-F16E70990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FE6800-F972-73CE-786A-87B3DEB74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B5AB6-0174-5C4F-A1ED-5A919A792D30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888DAD-C16D-0E69-BBEA-798C26EBF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19BC61-A31E-45E9-10F1-0D8D0F4F6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2EA36-9060-5646-AAAA-85080EA171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679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EF521D-0A58-5434-6873-859D367367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TRPG</a:t>
            </a:r>
            <a:r>
              <a:rPr kumimoji="1" lang="ja-JP" altLang="en-US"/>
              <a:t>風カードゲーム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A19C839-11D4-5440-7315-81D95A087B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8/31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905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4230FA-26C3-B21B-D704-C396F48E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7FCFF8-7DA6-680C-CE54-CDB8000E8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1964" cy="2476211"/>
          </a:xfrm>
        </p:spPr>
        <p:txBody>
          <a:bodyPr/>
          <a:lstStyle/>
          <a:p>
            <a:pPr algn="l"/>
            <a:r>
              <a:rPr lang="ja-JP" altLang="ja-JP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今のカードゲームは大体の流れが決められていて、そのルートに沿えば勝つことができる。例に挙げると遊戯王であったり、ポケモンカードなどがあったりする。そういったカードゲームに運要素を付け足したものは現状あまりみられていない。そこで、</a:t>
            </a:r>
            <a:r>
              <a:rPr lang="en-US" altLang="ja-JP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TRPG</a:t>
            </a:r>
            <a:r>
              <a:rPr lang="ja-JP" altLang="ja-JP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の乱数要素を取り入れることで新しいゲームを作ることが背景としてある。</a:t>
            </a:r>
          </a:p>
          <a:p>
            <a:pPr algn="l"/>
            <a:endParaRPr lang="ja-JP" altLang="ja-JP" kern="10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FFF5FF2-3E81-8F2D-7A45-D11EB6D54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972" y="4778375"/>
            <a:ext cx="1181100" cy="17145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49BE85E-EB30-B2DD-634B-34F08FD17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479" y="4778375"/>
            <a:ext cx="11811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5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4BDB34-C5B9-A14F-ECE6-960DE3AFA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勝利条件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9F283D-283B-A7CB-E363-8B2FB8106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7" y="2016991"/>
            <a:ext cx="11880273" cy="2268393"/>
          </a:xfrm>
        </p:spPr>
        <p:txBody>
          <a:bodyPr/>
          <a:lstStyle/>
          <a:p>
            <a:pPr algn="l"/>
            <a:r>
              <a:rPr lang="en-US" altLang="ja-JP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ja-JP" altLang="ja-JP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相手のデッキからカードがなくなり、引くことができなくなった場合</a:t>
            </a:r>
          </a:p>
          <a:p>
            <a:pPr algn="l"/>
            <a:r>
              <a:rPr lang="en-US" altLang="ja-JP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ja-JP" altLang="ja-JP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相手の</a:t>
            </a:r>
            <a:r>
              <a:rPr lang="en-US" altLang="ja-JP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LP</a:t>
            </a:r>
            <a:r>
              <a:rPr lang="ja-JP" altLang="ja-JP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が</a:t>
            </a:r>
            <a:r>
              <a:rPr lang="en-US" altLang="ja-JP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0</a:t>
            </a:r>
            <a:r>
              <a:rPr lang="ja-JP" altLang="ja-JP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以下になった場合</a:t>
            </a:r>
          </a:p>
          <a:p>
            <a:pPr algn="l"/>
            <a:r>
              <a:rPr lang="en-US" altLang="ja-JP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ja-JP" altLang="ja-JP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特殊勝利条件を満たした場合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18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65545-9782-7B7F-DC16-A36BB637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デッキの条件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EBCBCE-4587-709C-0B1E-2BCC1BE84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5873" cy="4667250"/>
          </a:xfrm>
        </p:spPr>
        <p:txBody>
          <a:bodyPr>
            <a:normAutofit/>
          </a:bodyPr>
          <a:lstStyle/>
          <a:p>
            <a:r>
              <a:rPr lang="ja-JP" altLang="ja-JP">
                <a:effectLst/>
                <a:ea typeface="游明朝" panose="02020400000000000000" pitchFamily="18" charset="-128"/>
                <a:cs typeface="Times New Roman" panose="02020603050405020304" pitchFamily="18" charset="0"/>
              </a:rPr>
              <a:t>デッキのカード枚数は</a:t>
            </a:r>
            <a:r>
              <a:rPr lang="en-US" altLang="ja-JP" dirty="0">
                <a:effectLst/>
                <a:ea typeface="游明朝" panose="02020400000000000000" pitchFamily="18" charset="-128"/>
                <a:cs typeface="Times New Roman" panose="02020603050405020304" pitchFamily="18" charset="0"/>
              </a:rPr>
              <a:t>15 </a:t>
            </a:r>
            <a:r>
              <a:rPr lang="en-US" altLang="ja-JP" dirty="0">
                <a:ea typeface="游明朝" panose="02020400000000000000" pitchFamily="18" charset="-128"/>
                <a:cs typeface="Times New Roman" panose="02020603050405020304" pitchFamily="18" charset="0"/>
              </a:rPr>
              <a:t>~ 40</a:t>
            </a:r>
            <a:r>
              <a:rPr lang="ja-JP" altLang="ja-JP">
                <a:effectLst/>
                <a:ea typeface="游明朝" panose="02020400000000000000" pitchFamily="18" charset="-128"/>
                <a:cs typeface="Times New Roman" panose="02020603050405020304" pitchFamily="18" charset="0"/>
              </a:rPr>
              <a:t>枚の範囲で組む必要がある。また、</a:t>
            </a:r>
            <a:r>
              <a:rPr lang="en-US" altLang="ja-JP" dirty="0">
                <a:effectLst/>
                <a:ea typeface="游明朝" panose="02020400000000000000" pitchFamily="18" charset="-128"/>
                <a:cs typeface="Times New Roman" panose="02020603050405020304" pitchFamily="18" charset="0"/>
              </a:rPr>
              <a:t>1</a:t>
            </a:r>
            <a:r>
              <a:rPr lang="ja-JP" altLang="ja-JP">
                <a:effectLst/>
                <a:ea typeface="游明朝" panose="02020400000000000000" pitchFamily="18" charset="-128"/>
                <a:cs typeface="Times New Roman" panose="02020603050405020304" pitchFamily="18" charset="0"/>
              </a:rPr>
              <a:t>マッチが終わるごとに入れ替えるためのエクストラデッキは</a:t>
            </a:r>
            <a:r>
              <a:rPr lang="en-US" altLang="ja-JP" dirty="0">
                <a:effectLst/>
                <a:ea typeface="游明朝" panose="02020400000000000000" pitchFamily="18" charset="-128"/>
                <a:cs typeface="Times New Roman" panose="02020603050405020304" pitchFamily="18" charset="0"/>
              </a:rPr>
              <a:t>10</a:t>
            </a:r>
            <a:r>
              <a:rPr lang="ja-JP" altLang="ja-JP">
                <a:effectLst/>
                <a:ea typeface="游明朝" panose="02020400000000000000" pitchFamily="18" charset="-128"/>
                <a:cs typeface="Times New Roman" panose="02020603050405020304" pitchFamily="18" charset="0"/>
              </a:rPr>
              <a:t>枚までとする。</a:t>
            </a:r>
            <a:r>
              <a:rPr lang="ja-JP" altLang="ja-JP">
                <a:effectLst/>
              </a:rPr>
              <a:t> </a:t>
            </a:r>
            <a:endParaRPr kumimoji="1" lang="ja-JP" altLang="en-US"/>
          </a:p>
        </p:txBody>
      </p:sp>
      <p:sp>
        <p:nvSpPr>
          <p:cNvPr id="4" name="雲形吹き出し 3">
            <a:extLst>
              <a:ext uri="{FF2B5EF4-FFF2-40B4-BE49-F238E27FC236}">
                <a16:creationId xmlns:a16="http://schemas.microsoft.com/office/drawing/2014/main" id="{A4C77B2E-9855-697B-E090-6166F960F1C1}"/>
              </a:ext>
            </a:extLst>
          </p:cNvPr>
          <p:cNvSpPr/>
          <p:nvPr/>
        </p:nvSpPr>
        <p:spPr>
          <a:xfrm>
            <a:off x="838199" y="4447308"/>
            <a:ext cx="7211290" cy="1475509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ぶっちゃけここは何枚でもいい</a:t>
            </a:r>
          </a:p>
        </p:txBody>
      </p:sp>
    </p:spTree>
    <p:extLst>
      <p:ext uri="{BB962C8B-B14F-4D97-AF65-F5344CB8AC3E}">
        <p14:creationId xmlns:p14="http://schemas.microsoft.com/office/powerpoint/2010/main" val="1645680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8A9845-132F-8EDE-73E3-F649F1E2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フィールド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C41066-180B-1AF5-F508-C78F199F8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フィールドは</a:t>
            </a:r>
            <a:r>
              <a:rPr kumimoji="1" lang="en-US" altLang="ja-JP" dirty="0"/>
              <a:t>”</a:t>
            </a:r>
            <a:r>
              <a:rPr kumimoji="1" lang="ja-JP" altLang="en-US"/>
              <a:t>バトルゾーン</a:t>
            </a:r>
            <a:r>
              <a:rPr kumimoji="1" lang="en-US" altLang="ja-JP" dirty="0"/>
              <a:t>” , “</a:t>
            </a:r>
            <a:r>
              <a:rPr kumimoji="1" lang="ja-JP" altLang="en-US"/>
              <a:t>墓地</a:t>
            </a:r>
            <a:r>
              <a:rPr kumimoji="1" lang="en-US" altLang="ja-JP" dirty="0"/>
              <a:t>” , “</a:t>
            </a:r>
            <a:r>
              <a:rPr kumimoji="1" lang="ja-JP" altLang="en-US"/>
              <a:t>山札</a:t>
            </a:r>
            <a:r>
              <a:rPr kumimoji="1" lang="en-US" altLang="ja-JP" dirty="0"/>
              <a:t>” , “</a:t>
            </a:r>
            <a:r>
              <a:rPr kumimoji="1" lang="ja-JP" altLang="en-US"/>
              <a:t>コアゾーン</a:t>
            </a:r>
            <a:r>
              <a:rPr kumimoji="1" lang="en-US" altLang="ja-JP" dirty="0"/>
              <a:t>”</a:t>
            </a:r>
            <a:r>
              <a:rPr kumimoji="1" lang="ja-JP" altLang="en-US"/>
              <a:t>の</a:t>
            </a:r>
            <a:r>
              <a:rPr kumimoji="1" lang="en-US" altLang="ja-JP" dirty="0"/>
              <a:t>4</a:t>
            </a:r>
            <a:r>
              <a:rPr kumimoji="1" lang="ja-JP" altLang="en-US"/>
              <a:t>つまとめてフォールドと呼ぶ。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/>
              <a:t>また、バトルゾーンについては</a:t>
            </a:r>
            <a:r>
              <a:rPr lang="en-US" altLang="ja-JP" dirty="0"/>
              <a:t>3 </a:t>
            </a:r>
            <a:r>
              <a:rPr lang="ja-JP" altLang="en-US"/>
              <a:t>❌</a:t>
            </a:r>
            <a:r>
              <a:rPr lang="en-US" altLang="ja-JP" dirty="0"/>
              <a:t> 3</a:t>
            </a:r>
            <a:r>
              <a:rPr lang="ja-JP" altLang="en-US"/>
              <a:t>となっており、それぞれ</a:t>
            </a:r>
            <a:r>
              <a:rPr lang="en-US" altLang="ja-JP" dirty="0"/>
              <a:t>”</a:t>
            </a:r>
            <a:r>
              <a:rPr lang="ja-JP" altLang="en-US"/>
              <a:t>前衛</a:t>
            </a:r>
            <a:r>
              <a:rPr lang="en-US" altLang="ja-JP" dirty="0"/>
              <a:t>” “</a:t>
            </a:r>
            <a:r>
              <a:rPr lang="ja-JP" altLang="en-US"/>
              <a:t>中央</a:t>
            </a:r>
            <a:r>
              <a:rPr lang="en-US" altLang="ja-JP" dirty="0"/>
              <a:t>” “</a:t>
            </a:r>
            <a:r>
              <a:rPr lang="ja-JP" altLang="en-US"/>
              <a:t>後衛</a:t>
            </a:r>
            <a:r>
              <a:rPr lang="en-US" altLang="ja-JP" dirty="0"/>
              <a:t>”</a:t>
            </a:r>
            <a:r>
              <a:rPr lang="ja-JP" altLang="en-US"/>
              <a:t>　に分かれている。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/>
              <a:t>次スライドに全体図を示す。</a:t>
            </a:r>
          </a:p>
        </p:txBody>
      </p:sp>
    </p:spTree>
    <p:extLst>
      <p:ext uri="{BB962C8B-B14F-4D97-AF65-F5344CB8AC3E}">
        <p14:creationId xmlns:p14="http://schemas.microsoft.com/office/powerpoint/2010/main" val="1787434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84166F9-BB18-0F9A-163C-878BF78F24CE}"/>
              </a:ext>
            </a:extLst>
          </p:cNvPr>
          <p:cNvSpPr txBox="1"/>
          <p:nvPr/>
        </p:nvSpPr>
        <p:spPr>
          <a:xfrm>
            <a:off x="4618672" y="21937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フィールドの全体図</a:t>
            </a:r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3057E6AB-B8DB-82CA-B0E1-AC202B045F63}"/>
              </a:ext>
            </a:extLst>
          </p:cNvPr>
          <p:cNvGrpSpPr/>
          <p:nvPr/>
        </p:nvGrpSpPr>
        <p:grpSpPr>
          <a:xfrm>
            <a:off x="3143992" y="1083624"/>
            <a:ext cx="6139382" cy="5287811"/>
            <a:chOff x="1433945" y="1392382"/>
            <a:chExt cx="6139382" cy="528781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87A9E81-DBCF-B6B1-B9F6-24AF83A2BB10}"/>
                </a:ext>
              </a:extLst>
            </p:cNvPr>
            <p:cNvSpPr/>
            <p:nvPr/>
          </p:nvSpPr>
          <p:spPr>
            <a:xfrm>
              <a:off x="1433948" y="1392382"/>
              <a:ext cx="6139379" cy="52878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A4994D50-758F-2789-BD72-B1C5FE891201}"/>
                </a:ext>
              </a:extLst>
            </p:cNvPr>
            <p:cNvCxnSpPr>
              <a:cxnSpLocks/>
            </p:cNvCxnSpPr>
            <p:nvPr/>
          </p:nvCxnSpPr>
          <p:spPr>
            <a:xfrm>
              <a:off x="2784763" y="1392382"/>
              <a:ext cx="0" cy="52462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E67FD7CB-9CA4-B1BF-876E-C1D83B18EFF9}"/>
                </a:ext>
              </a:extLst>
            </p:cNvPr>
            <p:cNvCxnSpPr>
              <a:cxnSpLocks/>
            </p:cNvCxnSpPr>
            <p:nvPr/>
          </p:nvCxnSpPr>
          <p:spPr>
            <a:xfrm>
              <a:off x="4156363" y="1425937"/>
              <a:ext cx="0" cy="52126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F2579BFA-B26B-F5DC-5A73-2DDB584E89E1}"/>
                </a:ext>
              </a:extLst>
            </p:cNvPr>
            <p:cNvCxnSpPr>
              <a:cxnSpLocks/>
            </p:cNvCxnSpPr>
            <p:nvPr/>
          </p:nvCxnSpPr>
          <p:spPr>
            <a:xfrm>
              <a:off x="5465618" y="1425937"/>
              <a:ext cx="0" cy="52462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3BF48D71-0B0F-56E6-4992-BB0292D6BCF3}"/>
                </a:ext>
              </a:extLst>
            </p:cNvPr>
            <p:cNvCxnSpPr>
              <a:cxnSpLocks/>
            </p:cNvCxnSpPr>
            <p:nvPr/>
          </p:nvCxnSpPr>
          <p:spPr>
            <a:xfrm>
              <a:off x="1433945" y="3138055"/>
              <a:ext cx="40316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69BF5B8D-0D73-F7DD-48E6-D3054CF4F625}"/>
                </a:ext>
              </a:extLst>
            </p:cNvPr>
            <p:cNvCxnSpPr>
              <a:cxnSpLocks/>
            </p:cNvCxnSpPr>
            <p:nvPr/>
          </p:nvCxnSpPr>
          <p:spPr>
            <a:xfrm>
              <a:off x="1433945" y="4842163"/>
              <a:ext cx="40316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6406D574-38FD-2B84-03F2-2E7A9511AD00}"/>
                </a:ext>
              </a:extLst>
            </p:cNvPr>
            <p:cNvCxnSpPr>
              <a:cxnSpLocks/>
            </p:cNvCxnSpPr>
            <p:nvPr/>
          </p:nvCxnSpPr>
          <p:spPr>
            <a:xfrm>
              <a:off x="7573327" y="1425937"/>
              <a:ext cx="0" cy="50579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F8E43C1D-039D-8052-E2D2-AD07994282EE}"/>
                </a:ext>
              </a:extLst>
            </p:cNvPr>
            <p:cNvCxnSpPr>
              <a:cxnSpLocks/>
            </p:cNvCxnSpPr>
            <p:nvPr/>
          </p:nvCxnSpPr>
          <p:spPr>
            <a:xfrm>
              <a:off x="5465618" y="3844636"/>
              <a:ext cx="2107709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四角形吹き出し 31">
            <a:extLst>
              <a:ext uri="{FF2B5EF4-FFF2-40B4-BE49-F238E27FC236}">
                <a16:creationId xmlns:a16="http://schemas.microsoft.com/office/drawing/2014/main" id="{D56DF349-E3CD-FE4E-9830-C134192066AF}"/>
              </a:ext>
            </a:extLst>
          </p:cNvPr>
          <p:cNvSpPr/>
          <p:nvPr/>
        </p:nvSpPr>
        <p:spPr>
          <a:xfrm>
            <a:off x="589314" y="1544691"/>
            <a:ext cx="1769423" cy="688769"/>
          </a:xfrm>
          <a:prstGeom prst="wedgeRectCallout">
            <a:avLst>
              <a:gd name="adj1" fmla="val 73127"/>
              <a:gd name="adj2" fmla="val 9698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前衛</a:t>
            </a:r>
          </a:p>
        </p:txBody>
      </p:sp>
      <p:sp>
        <p:nvSpPr>
          <p:cNvPr id="33" name="フレーム 32">
            <a:extLst>
              <a:ext uri="{FF2B5EF4-FFF2-40B4-BE49-F238E27FC236}">
                <a16:creationId xmlns:a16="http://schemas.microsoft.com/office/drawing/2014/main" id="{B857FB90-4C53-B954-CD5C-5D63C88257D9}"/>
              </a:ext>
            </a:extLst>
          </p:cNvPr>
          <p:cNvSpPr/>
          <p:nvPr/>
        </p:nvSpPr>
        <p:spPr>
          <a:xfrm>
            <a:off x="2814452" y="866899"/>
            <a:ext cx="4536374" cy="5771731"/>
          </a:xfrm>
          <a:prstGeom prst="frame">
            <a:avLst>
              <a:gd name="adj1" fmla="val 2518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4" name="四角形吹き出し 33">
            <a:extLst>
              <a:ext uri="{FF2B5EF4-FFF2-40B4-BE49-F238E27FC236}">
                <a16:creationId xmlns:a16="http://schemas.microsoft.com/office/drawing/2014/main" id="{988B090D-B61B-0DD5-A977-9256B9937519}"/>
              </a:ext>
            </a:extLst>
          </p:cNvPr>
          <p:cNvSpPr/>
          <p:nvPr/>
        </p:nvSpPr>
        <p:spPr>
          <a:xfrm>
            <a:off x="332509" y="170789"/>
            <a:ext cx="2054593" cy="688769"/>
          </a:xfrm>
          <a:prstGeom prst="wedgeRectCallout">
            <a:avLst>
              <a:gd name="adj1" fmla="val 73127"/>
              <a:gd name="adj2" fmla="val 96983"/>
            </a:avLst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バトルゾーン</a:t>
            </a:r>
            <a:endParaRPr kumimoji="1" lang="ja-JP" altLang="en-US"/>
          </a:p>
        </p:txBody>
      </p:sp>
      <p:sp>
        <p:nvSpPr>
          <p:cNvPr id="35" name="四角形吹き出し 34">
            <a:extLst>
              <a:ext uri="{FF2B5EF4-FFF2-40B4-BE49-F238E27FC236}">
                <a16:creationId xmlns:a16="http://schemas.microsoft.com/office/drawing/2014/main" id="{54BBC175-D0F0-2764-44F0-1B6E893C4DA4}"/>
              </a:ext>
            </a:extLst>
          </p:cNvPr>
          <p:cNvSpPr/>
          <p:nvPr/>
        </p:nvSpPr>
        <p:spPr>
          <a:xfrm>
            <a:off x="620486" y="2957405"/>
            <a:ext cx="1769423" cy="688769"/>
          </a:xfrm>
          <a:prstGeom prst="wedgeRectCallout">
            <a:avLst>
              <a:gd name="adj1" fmla="val 73127"/>
              <a:gd name="adj2" fmla="val 9698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中央</a:t>
            </a:r>
            <a:endParaRPr kumimoji="1" lang="ja-JP" altLang="en-US"/>
          </a:p>
        </p:txBody>
      </p:sp>
      <p:sp>
        <p:nvSpPr>
          <p:cNvPr id="36" name="四角形吹き出し 35">
            <a:extLst>
              <a:ext uri="{FF2B5EF4-FFF2-40B4-BE49-F238E27FC236}">
                <a16:creationId xmlns:a16="http://schemas.microsoft.com/office/drawing/2014/main" id="{149F0914-DDE9-229A-C199-2210C568D5F7}"/>
              </a:ext>
            </a:extLst>
          </p:cNvPr>
          <p:cNvSpPr/>
          <p:nvPr/>
        </p:nvSpPr>
        <p:spPr>
          <a:xfrm>
            <a:off x="617679" y="4533405"/>
            <a:ext cx="1769423" cy="688769"/>
          </a:xfrm>
          <a:prstGeom prst="wedgeRectCallout">
            <a:avLst>
              <a:gd name="adj1" fmla="val 73127"/>
              <a:gd name="adj2" fmla="val 9698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後衛</a:t>
            </a:r>
            <a:endParaRPr kumimoji="1" lang="ja-JP" altLang="en-US"/>
          </a:p>
        </p:txBody>
      </p:sp>
      <p:sp>
        <p:nvSpPr>
          <p:cNvPr id="37" name="フレーム 36">
            <a:extLst>
              <a:ext uri="{FF2B5EF4-FFF2-40B4-BE49-F238E27FC236}">
                <a16:creationId xmlns:a16="http://schemas.microsoft.com/office/drawing/2014/main" id="{A7A16808-0531-2841-8A44-5BE222B56671}"/>
              </a:ext>
            </a:extLst>
          </p:cNvPr>
          <p:cNvSpPr/>
          <p:nvPr/>
        </p:nvSpPr>
        <p:spPr>
          <a:xfrm>
            <a:off x="7089568" y="1052763"/>
            <a:ext cx="2287969" cy="2593393"/>
          </a:xfrm>
          <a:prstGeom prst="frame">
            <a:avLst>
              <a:gd name="adj1" fmla="val 2518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8" name="四角形吹き出し 37">
            <a:extLst>
              <a:ext uri="{FF2B5EF4-FFF2-40B4-BE49-F238E27FC236}">
                <a16:creationId xmlns:a16="http://schemas.microsoft.com/office/drawing/2014/main" id="{CEEF8A9E-21B6-F2B6-49AA-7680FBB70CCC}"/>
              </a:ext>
            </a:extLst>
          </p:cNvPr>
          <p:cNvSpPr/>
          <p:nvPr/>
        </p:nvSpPr>
        <p:spPr>
          <a:xfrm>
            <a:off x="8457117" y="30725"/>
            <a:ext cx="2054593" cy="688769"/>
          </a:xfrm>
          <a:prstGeom prst="wedgeRectCallout">
            <a:avLst>
              <a:gd name="adj1" fmla="val -55765"/>
              <a:gd name="adj2" fmla="val 96983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墓地</a:t>
            </a:r>
          </a:p>
        </p:txBody>
      </p:sp>
      <p:sp>
        <p:nvSpPr>
          <p:cNvPr id="48" name="フレーム 47">
            <a:extLst>
              <a:ext uri="{FF2B5EF4-FFF2-40B4-BE49-F238E27FC236}">
                <a16:creationId xmlns:a16="http://schemas.microsoft.com/office/drawing/2014/main" id="{7C1C51EC-A291-E546-9616-B17FFE771915}"/>
              </a:ext>
            </a:extLst>
          </p:cNvPr>
          <p:cNvSpPr/>
          <p:nvPr/>
        </p:nvSpPr>
        <p:spPr>
          <a:xfrm>
            <a:off x="7089569" y="3474914"/>
            <a:ext cx="2287968" cy="3152616"/>
          </a:xfrm>
          <a:prstGeom prst="frame">
            <a:avLst>
              <a:gd name="adj1" fmla="val 2518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四角形吹き出し 48">
            <a:extLst>
              <a:ext uri="{FF2B5EF4-FFF2-40B4-BE49-F238E27FC236}">
                <a16:creationId xmlns:a16="http://schemas.microsoft.com/office/drawing/2014/main" id="{C50803A7-6904-7D7C-298A-772E281F707B}"/>
              </a:ext>
            </a:extLst>
          </p:cNvPr>
          <p:cNvSpPr/>
          <p:nvPr/>
        </p:nvSpPr>
        <p:spPr>
          <a:xfrm>
            <a:off x="8086934" y="2852660"/>
            <a:ext cx="2054593" cy="688769"/>
          </a:xfrm>
          <a:prstGeom prst="wedgeRectCallout">
            <a:avLst>
              <a:gd name="adj1" fmla="val -55765"/>
              <a:gd name="adj2" fmla="val 96983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山札</a:t>
            </a:r>
            <a:endParaRPr kumimoji="1" lang="ja-JP" altLang="en-US"/>
          </a:p>
        </p:txBody>
      </p:sp>
      <p:sp>
        <p:nvSpPr>
          <p:cNvPr id="50" name="雲形吹き出し 49">
            <a:extLst>
              <a:ext uri="{FF2B5EF4-FFF2-40B4-BE49-F238E27FC236}">
                <a16:creationId xmlns:a16="http://schemas.microsoft.com/office/drawing/2014/main" id="{41E8ADE4-4270-7ECC-E523-52F7956FDDB4}"/>
              </a:ext>
            </a:extLst>
          </p:cNvPr>
          <p:cNvSpPr/>
          <p:nvPr/>
        </p:nvSpPr>
        <p:spPr>
          <a:xfrm>
            <a:off x="9508163" y="1405935"/>
            <a:ext cx="3166706" cy="855023"/>
          </a:xfrm>
          <a:prstGeom prst="cloudCallou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コアゾーン</a:t>
            </a:r>
          </a:p>
        </p:txBody>
      </p:sp>
      <p:sp>
        <p:nvSpPr>
          <p:cNvPr id="51" name="フレーム 50">
            <a:extLst>
              <a:ext uri="{FF2B5EF4-FFF2-40B4-BE49-F238E27FC236}">
                <a16:creationId xmlns:a16="http://schemas.microsoft.com/office/drawing/2014/main" id="{667A0BE7-CC59-0CA1-B43E-FE7A3EABFE6F}"/>
              </a:ext>
            </a:extLst>
          </p:cNvPr>
          <p:cNvSpPr/>
          <p:nvPr/>
        </p:nvSpPr>
        <p:spPr>
          <a:xfrm>
            <a:off x="9583387" y="2458192"/>
            <a:ext cx="2090057" cy="2593030"/>
          </a:xfrm>
          <a:prstGeom prst="frame">
            <a:avLst>
              <a:gd name="adj1" fmla="val 4545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23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2BB98C-5B04-BC5F-1BA9-AB589A7F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ゲームの流れ</a:t>
            </a:r>
            <a:r>
              <a:rPr kumimoji="1" lang="en-US" altLang="ja-JP" dirty="0"/>
              <a:t> </a:t>
            </a:r>
            <a:r>
              <a:rPr kumimoji="1" lang="ja-JP" altLang="en-US"/>
              <a:t>概要</a:t>
            </a:r>
          </a:p>
        </p:txBody>
      </p:sp>
      <p:sp>
        <p:nvSpPr>
          <p:cNvPr id="4" name="フローチャート: 他ページ結合子 3">
            <a:extLst>
              <a:ext uri="{FF2B5EF4-FFF2-40B4-BE49-F238E27FC236}">
                <a16:creationId xmlns:a16="http://schemas.microsoft.com/office/drawing/2014/main" id="{D475115F-20F2-46DF-EFD8-60D787F75287}"/>
              </a:ext>
            </a:extLst>
          </p:cNvPr>
          <p:cNvSpPr/>
          <p:nvPr/>
        </p:nvSpPr>
        <p:spPr>
          <a:xfrm rot="16200000">
            <a:off x="93693" y="2549221"/>
            <a:ext cx="3344451" cy="1627386"/>
          </a:xfrm>
          <a:prstGeom prst="flowChartOffpage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3F45DE8-5535-8D93-A142-20BED98471E3}"/>
              </a:ext>
            </a:extLst>
          </p:cNvPr>
          <p:cNvSpPr txBox="1"/>
          <p:nvPr/>
        </p:nvSpPr>
        <p:spPr>
          <a:xfrm>
            <a:off x="1339435" y="2375066"/>
            <a:ext cx="481735" cy="28126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ja-JP" dirty="0"/>
              <a:t>1 </a:t>
            </a:r>
            <a:r>
              <a:rPr kumimoji="1" lang="ja-JP" altLang="en-US"/>
              <a:t>ドロ｜フェイズ</a:t>
            </a:r>
          </a:p>
        </p:txBody>
      </p:sp>
      <p:sp>
        <p:nvSpPr>
          <p:cNvPr id="6" name="フローチャート: 他ページ結合子 5">
            <a:extLst>
              <a:ext uri="{FF2B5EF4-FFF2-40B4-BE49-F238E27FC236}">
                <a16:creationId xmlns:a16="http://schemas.microsoft.com/office/drawing/2014/main" id="{09C4EE4E-9403-CD09-33F1-5AEBC8675D2F}"/>
              </a:ext>
            </a:extLst>
          </p:cNvPr>
          <p:cNvSpPr/>
          <p:nvPr/>
        </p:nvSpPr>
        <p:spPr>
          <a:xfrm rot="16200000">
            <a:off x="1596687" y="2549221"/>
            <a:ext cx="3344451" cy="1627386"/>
          </a:xfrm>
          <a:prstGeom prst="flowChartOffpageConnecto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5524B7-C8ED-3C6A-3E22-DD306162F253}"/>
              </a:ext>
            </a:extLst>
          </p:cNvPr>
          <p:cNvSpPr txBox="1"/>
          <p:nvPr/>
        </p:nvSpPr>
        <p:spPr>
          <a:xfrm>
            <a:off x="2928142" y="2361212"/>
            <a:ext cx="481735" cy="28126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 </a:t>
            </a:r>
            <a:r>
              <a:rPr kumimoji="1" lang="ja-JP" altLang="en-US"/>
              <a:t>マナフェイズ</a:t>
            </a:r>
          </a:p>
        </p:txBody>
      </p:sp>
      <p:sp>
        <p:nvSpPr>
          <p:cNvPr id="8" name="フローチャート: 他ページ結合子 7">
            <a:extLst>
              <a:ext uri="{FF2B5EF4-FFF2-40B4-BE49-F238E27FC236}">
                <a16:creationId xmlns:a16="http://schemas.microsoft.com/office/drawing/2014/main" id="{218FA099-E872-76D5-A9CA-A7FE4AC4CFB3}"/>
              </a:ext>
            </a:extLst>
          </p:cNvPr>
          <p:cNvSpPr/>
          <p:nvPr/>
        </p:nvSpPr>
        <p:spPr>
          <a:xfrm rot="16200000">
            <a:off x="3117565" y="2549221"/>
            <a:ext cx="3344451" cy="1627386"/>
          </a:xfrm>
          <a:prstGeom prst="flowChartOffpageConnector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12E5B52-0A88-3C55-0403-31223D4E7F59}"/>
              </a:ext>
            </a:extLst>
          </p:cNvPr>
          <p:cNvSpPr txBox="1"/>
          <p:nvPr/>
        </p:nvSpPr>
        <p:spPr>
          <a:xfrm>
            <a:off x="4462753" y="2361212"/>
            <a:ext cx="481735" cy="28126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ja-JP" dirty="0"/>
              <a:t>3 </a:t>
            </a:r>
            <a:r>
              <a:rPr lang="ja-JP" altLang="en-US"/>
              <a:t>セット</a:t>
            </a:r>
            <a:r>
              <a:rPr kumimoji="1" lang="ja-JP" altLang="en-US"/>
              <a:t>フェイズ</a:t>
            </a:r>
          </a:p>
        </p:txBody>
      </p:sp>
      <p:sp>
        <p:nvSpPr>
          <p:cNvPr id="10" name="フローチャート: 他ページ結合子 9">
            <a:extLst>
              <a:ext uri="{FF2B5EF4-FFF2-40B4-BE49-F238E27FC236}">
                <a16:creationId xmlns:a16="http://schemas.microsoft.com/office/drawing/2014/main" id="{9C169A02-4F95-5510-DE36-9DD3BE2040F9}"/>
              </a:ext>
            </a:extLst>
          </p:cNvPr>
          <p:cNvSpPr/>
          <p:nvPr/>
        </p:nvSpPr>
        <p:spPr>
          <a:xfrm rot="16200000">
            <a:off x="4638441" y="2549220"/>
            <a:ext cx="3344451" cy="1627386"/>
          </a:xfrm>
          <a:prstGeom prst="flowChartOffpage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3CAE41D-76E5-0488-5C80-94ADA0D6F472}"/>
              </a:ext>
            </a:extLst>
          </p:cNvPr>
          <p:cNvSpPr txBox="1"/>
          <p:nvPr/>
        </p:nvSpPr>
        <p:spPr>
          <a:xfrm>
            <a:off x="5895002" y="2375065"/>
            <a:ext cx="481735" cy="28126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ja-JP" dirty="0"/>
              <a:t>4</a:t>
            </a:r>
            <a:r>
              <a:rPr kumimoji="1" lang="en-US" altLang="ja-JP" dirty="0"/>
              <a:t> </a:t>
            </a:r>
            <a:r>
              <a:rPr kumimoji="1" lang="ja-JP" altLang="en-US"/>
              <a:t>バトルフェイズ</a:t>
            </a:r>
          </a:p>
        </p:txBody>
      </p:sp>
      <p:sp>
        <p:nvSpPr>
          <p:cNvPr id="12" name="フローチャート: 他ページ結合子 11">
            <a:extLst>
              <a:ext uri="{FF2B5EF4-FFF2-40B4-BE49-F238E27FC236}">
                <a16:creationId xmlns:a16="http://schemas.microsoft.com/office/drawing/2014/main" id="{DD6DD511-3182-81EA-87D8-8539CEE8159B}"/>
              </a:ext>
            </a:extLst>
          </p:cNvPr>
          <p:cNvSpPr/>
          <p:nvPr/>
        </p:nvSpPr>
        <p:spPr>
          <a:xfrm rot="16200000">
            <a:off x="6159317" y="2549220"/>
            <a:ext cx="3344451" cy="1627386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FE318B0-3FB2-1D46-564D-CA3E7BF12587}"/>
              </a:ext>
            </a:extLst>
          </p:cNvPr>
          <p:cNvSpPr txBox="1"/>
          <p:nvPr/>
        </p:nvSpPr>
        <p:spPr>
          <a:xfrm>
            <a:off x="7397996" y="2375065"/>
            <a:ext cx="481735" cy="28126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ja-JP" dirty="0"/>
              <a:t>5 </a:t>
            </a:r>
            <a:r>
              <a:rPr lang="ja-JP" altLang="en-US"/>
              <a:t>エンド</a:t>
            </a:r>
            <a:r>
              <a:rPr kumimoji="1" lang="ja-JP" altLang="en-US"/>
              <a:t>フェイズ</a:t>
            </a:r>
          </a:p>
        </p:txBody>
      </p:sp>
      <p:sp>
        <p:nvSpPr>
          <p:cNvPr id="15" name="四角形吹き出し 14">
            <a:extLst>
              <a:ext uri="{FF2B5EF4-FFF2-40B4-BE49-F238E27FC236}">
                <a16:creationId xmlns:a16="http://schemas.microsoft.com/office/drawing/2014/main" id="{B7E2B387-1A8A-4B20-DFE0-2556187F4FF7}"/>
              </a:ext>
            </a:extLst>
          </p:cNvPr>
          <p:cNvSpPr/>
          <p:nvPr/>
        </p:nvSpPr>
        <p:spPr>
          <a:xfrm>
            <a:off x="9025383" y="2924299"/>
            <a:ext cx="2885704" cy="1009402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相手のターンへ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44B3C4A-EC25-CE38-249A-4D9CA58F28B7}"/>
              </a:ext>
            </a:extLst>
          </p:cNvPr>
          <p:cNvSpPr txBox="1"/>
          <p:nvPr/>
        </p:nvSpPr>
        <p:spPr>
          <a:xfrm>
            <a:off x="464736" y="5167312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手札</a:t>
            </a:r>
            <a:r>
              <a:rPr kumimoji="1" lang="en-US" altLang="ja-JP" dirty="0"/>
              <a:t>1</a:t>
            </a:r>
            <a:r>
              <a:rPr kumimoji="1" lang="ja-JP" altLang="en-US"/>
              <a:t>枚増やす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AB84117-0261-80EE-E341-C45963D1A7B7}"/>
              </a:ext>
            </a:extLst>
          </p:cNvPr>
          <p:cNvSpPr txBox="1"/>
          <p:nvPr/>
        </p:nvSpPr>
        <p:spPr>
          <a:xfrm>
            <a:off x="2404958" y="5187719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マナ回復</a:t>
            </a:r>
            <a:r>
              <a:rPr lang="en-US" altLang="ja-JP" dirty="0"/>
              <a:t> / </a:t>
            </a:r>
          </a:p>
          <a:p>
            <a:r>
              <a:rPr lang="ja-JP" altLang="en-US"/>
              <a:t>マナ最大値</a:t>
            </a:r>
            <a:r>
              <a:rPr lang="en-US" altLang="ja-JP" dirty="0"/>
              <a:t>+</a:t>
            </a:r>
            <a:r>
              <a:rPr kumimoji="1" lang="en-US" altLang="ja-JP" dirty="0"/>
              <a:t>1</a:t>
            </a:r>
            <a:endParaRPr lang="en-US" altLang="ja-JP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968C846-CDF4-D761-E0DB-EABAC9C15D0C}"/>
              </a:ext>
            </a:extLst>
          </p:cNvPr>
          <p:cNvSpPr txBox="1"/>
          <p:nvPr/>
        </p:nvSpPr>
        <p:spPr>
          <a:xfrm>
            <a:off x="3918790" y="5213478"/>
            <a:ext cx="1635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カード召喚</a:t>
            </a:r>
            <a:r>
              <a:rPr kumimoji="1" lang="en-US" altLang="ja-JP" dirty="0"/>
              <a:t> /</a:t>
            </a:r>
          </a:p>
          <a:p>
            <a:r>
              <a:rPr kumimoji="1" lang="ja-JP" altLang="en-US"/>
              <a:t>位置変更　</a:t>
            </a:r>
            <a:r>
              <a:rPr kumimoji="1" lang="en-US" altLang="ja-JP" dirty="0"/>
              <a:t>/ </a:t>
            </a:r>
          </a:p>
          <a:p>
            <a:r>
              <a:rPr lang="ja-JP" altLang="en-US"/>
              <a:t>効果発動</a:t>
            </a:r>
            <a:r>
              <a:rPr lang="en-US" altLang="ja-JP" dirty="0"/>
              <a:t> </a:t>
            </a:r>
            <a:r>
              <a:rPr lang="ja-JP" altLang="en-US"/>
              <a:t>とか</a:t>
            </a:r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37BFCBE-8D61-CB71-3FB3-D2CB7C22B940}"/>
              </a:ext>
            </a:extLst>
          </p:cNvPr>
          <p:cNvSpPr txBox="1"/>
          <p:nvPr/>
        </p:nvSpPr>
        <p:spPr>
          <a:xfrm>
            <a:off x="5599334" y="52255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戦闘する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2F95A4-0815-71B3-977F-C698B187C571}"/>
              </a:ext>
            </a:extLst>
          </p:cNvPr>
          <p:cNvSpPr txBox="1"/>
          <p:nvPr/>
        </p:nvSpPr>
        <p:spPr>
          <a:xfrm>
            <a:off x="938151" y="6495803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あとフェイズでもフェーズでもどっちも同じ意味。</a:t>
            </a:r>
          </a:p>
        </p:txBody>
      </p:sp>
    </p:spTree>
    <p:extLst>
      <p:ext uri="{BB962C8B-B14F-4D97-AF65-F5344CB8AC3E}">
        <p14:creationId xmlns:p14="http://schemas.microsoft.com/office/powerpoint/2010/main" val="1020867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15D427-D45B-00E4-8610-EBC27518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カードの種類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0DBA26-09CC-291C-47D6-428BD9E61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538"/>
            <a:ext cx="10515600" cy="44769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r>
              <a:rPr kumimoji="1" lang="ja-JP" altLang="en-US"/>
              <a:t>キャラクターカード</a:t>
            </a:r>
            <a:endParaRPr kumimoji="1" lang="en-US" altLang="ja-JP" dirty="0"/>
          </a:p>
          <a:p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主にバトルを行うためのカード。それぞれにはコスト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, </a:t>
            </a:r>
            <a:r>
              <a:rPr lang="ja-JP" altLang="en-US" sz="1800" kern="10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カード</a:t>
            </a:r>
            <a:r>
              <a:rPr lang="en-US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(</a:t>
            </a:r>
            <a:r>
              <a:rPr lang="ja-JP" altLang="en-US" sz="1800" kern="10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キャラクター</a:t>
            </a:r>
            <a:r>
              <a:rPr lang="en-US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)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名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, HP , MP , 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属性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, 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行動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, 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特殊技能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, 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パッシブ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, 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切り札が書かれています。</a:t>
            </a:r>
            <a:endParaRPr kumimoji="1" lang="en-US" altLang="ja-JP" dirty="0"/>
          </a:p>
          <a:p>
            <a:r>
              <a:rPr lang="ja-JP" altLang="en-US"/>
              <a:t>サポートカード</a:t>
            </a:r>
            <a:endParaRPr lang="en-US" altLang="ja-JP" dirty="0"/>
          </a:p>
          <a:p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主に</a:t>
            </a:r>
            <a:r>
              <a:rPr lang="ja-JP" altLang="en-US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サポート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を行うためのカード。それぞれにはコスト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, </a:t>
            </a:r>
            <a:r>
              <a:rPr lang="ja-JP" altLang="en-US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カード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(</a:t>
            </a:r>
            <a:r>
              <a:rPr lang="ja-JP" altLang="en-US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サポート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)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名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属性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,</a:t>
            </a:r>
            <a:r>
              <a:rPr lang="ja-JP" altLang="en-US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発動条件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, </a:t>
            </a:r>
          </a:p>
          <a:p>
            <a:pPr marL="0" indent="0">
              <a:buNone/>
            </a:pPr>
            <a:r>
              <a:rPr lang="ja-JP" altLang="en-US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効果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が書かれています。</a:t>
            </a:r>
            <a:endParaRPr lang="en-US" altLang="ja-JP" dirty="0"/>
          </a:p>
          <a:p>
            <a:r>
              <a:rPr lang="ja-JP" altLang="en-US"/>
              <a:t>コアカード</a:t>
            </a:r>
            <a:endParaRPr lang="en-US" altLang="ja-JP" dirty="0"/>
          </a:p>
          <a:p>
            <a:r>
              <a:rPr lang="ja-JP" altLang="en-US" sz="1800" kern="10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試合をひっくり返すような強力な効果を秘めた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カード。それぞれには</a:t>
            </a:r>
            <a:r>
              <a:rPr lang="ja-JP" altLang="en-US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コア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コスト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, </a:t>
            </a:r>
            <a:r>
              <a:rPr lang="ja-JP" altLang="en-US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カード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(</a:t>
            </a:r>
            <a:r>
              <a:rPr lang="ja-JP" altLang="en-US" sz="1800" kern="10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コア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)</a:t>
            </a: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名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ja-JP" altLang="ja-JP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属性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,</a:t>
            </a:r>
            <a:r>
              <a:rPr lang="ja-JP" altLang="en-US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発動条件</a:t>
            </a: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, </a:t>
            </a:r>
            <a:r>
              <a:rPr lang="ja-JP" altLang="en-US" sz="1800" kern="10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効果が書かれています。</a:t>
            </a:r>
            <a:endParaRPr lang="en-US" altLang="ja-JP" sz="1800" kern="100" dirty="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747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68CBD9-4810-9BFA-9E67-AB645583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キャラクターカード</a:t>
            </a:r>
          </a:p>
        </p:txBody>
      </p:sp>
      <p:pic>
        <p:nvPicPr>
          <p:cNvPr id="22" name="コンテンツ プレースホルダー 21" descr="ダイアグラム&#10;&#10;自動的に生成された説明">
            <a:extLst>
              <a:ext uri="{FF2B5EF4-FFF2-40B4-BE49-F238E27FC236}">
                <a16:creationId xmlns:a16="http://schemas.microsoft.com/office/drawing/2014/main" id="{0BB2483C-4AFF-B677-7CFB-9AC69A609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324" y="1690688"/>
            <a:ext cx="6192568" cy="4801659"/>
          </a:xfr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4C4CE55-EB82-F3CC-3AF8-DC8810F09771}"/>
              </a:ext>
            </a:extLst>
          </p:cNvPr>
          <p:cNvSpPr txBox="1"/>
          <p:nvPr/>
        </p:nvSpPr>
        <p:spPr>
          <a:xfrm>
            <a:off x="6804561" y="1531917"/>
            <a:ext cx="4753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”HP”</a:t>
            </a:r>
            <a:r>
              <a:rPr kumimoji="1" lang="ja-JP" altLang="en-US"/>
              <a:t>が</a:t>
            </a:r>
            <a:r>
              <a:rPr kumimoji="1" lang="en-US" altLang="ja-JP" dirty="0"/>
              <a:t>0</a:t>
            </a:r>
            <a:r>
              <a:rPr kumimoji="1" lang="ja-JP" altLang="en-US"/>
              <a:t>以下になると墓地に送られます。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562D0FC-337E-5653-69F5-F860FFF145C9}"/>
              </a:ext>
            </a:extLst>
          </p:cNvPr>
          <p:cNvSpPr txBox="1"/>
          <p:nvPr/>
        </p:nvSpPr>
        <p:spPr>
          <a:xfrm>
            <a:off x="6804561" y="2111828"/>
            <a:ext cx="5681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”</a:t>
            </a:r>
            <a:r>
              <a:rPr lang="en-US" altLang="ja-JP" dirty="0"/>
              <a:t>MP”</a:t>
            </a:r>
            <a:r>
              <a:rPr kumimoji="1" lang="ja-JP" altLang="en-US"/>
              <a:t>が</a:t>
            </a:r>
            <a:r>
              <a:rPr kumimoji="1" lang="en-US" altLang="ja-JP" dirty="0"/>
              <a:t>0</a:t>
            </a:r>
            <a:r>
              <a:rPr kumimoji="1" lang="ja-JP" altLang="en-US"/>
              <a:t>以下になると</a:t>
            </a:r>
            <a:r>
              <a:rPr kumimoji="1" lang="en-US" altLang="ja-JP" dirty="0"/>
              <a:t>”</a:t>
            </a:r>
            <a:r>
              <a:rPr lang="ja-JP" altLang="en-US"/>
              <a:t>パニック</a:t>
            </a:r>
            <a:r>
              <a:rPr kumimoji="1" lang="en-US" altLang="ja-JP" dirty="0"/>
              <a:t>”</a:t>
            </a:r>
            <a:r>
              <a:rPr kumimoji="1" lang="ja-JP" altLang="en-US"/>
              <a:t>状態となります。</a:t>
            </a:r>
            <a:endParaRPr kumimoji="1" lang="en-US" altLang="ja-JP" dirty="0"/>
          </a:p>
          <a:p>
            <a:r>
              <a:rPr lang="en-US" altLang="ja-JP" dirty="0"/>
              <a:t>(“</a:t>
            </a:r>
            <a:r>
              <a:rPr lang="ja-JP" altLang="en-US"/>
              <a:t>パニック</a:t>
            </a:r>
            <a:r>
              <a:rPr lang="en-US" altLang="ja-JP" dirty="0"/>
              <a:t>”</a:t>
            </a:r>
            <a:r>
              <a:rPr lang="ja-JP" altLang="en-US"/>
              <a:t>については後述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4D8995E-7D8F-EE03-2081-E2266C3448DE}"/>
              </a:ext>
            </a:extLst>
          </p:cNvPr>
          <p:cNvSpPr txBox="1"/>
          <p:nvPr/>
        </p:nvSpPr>
        <p:spPr>
          <a:xfrm>
            <a:off x="6804561" y="2968738"/>
            <a:ext cx="5227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”</a:t>
            </a:r>
            <a:r>
              <a:rPr kumimoji="1" lang="ja-JP" altLang="en-US"/>
              <a:t>パッシブ</a:t>
            </a:r>
            <a:r>
              <a:rPr kumimoji="1" lang="en-US" altLang="ja-JP" dirty="0"/>
              <a:t>”</a:t>
            </a:r>
            <a:r>
              <a:rPr kumimoji="1" lang="ja-JP" altLang="en-US"/>
              <a:t>とは得手不得手みたいなもので</a:t>
            </a:r>
            <a:r>
              <a:rPr lang="ja-JP" altLang="en-US"/>
              <a:t>す。</a:t>
            </a:r>
            <a:endParaRPr lang="en-US" altLang="ja-JP" dirty="0"/>
          </a:p>
          <a:p>
            <a:r>
              <a:rPr kumimoji="1" lang="ja-JP" altLang="en-US"/>
              <a:t>常に発動する効果になります。</a:t>
            </a:r>
            <a:endParaRPr kumimoji="1" lang="en-US" altLang="ja-JP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D27B6C9-F322-C6B9-9B6A-A9131181DEB9}"/>
              </a:ext>
            </a:extLst>
          </p:cNvPr>
          <p:cNvSpPr txBox="1"/>
          <p:nvPr/>
        </p:nvSpPr>
        <p:spPr>
          <a:xfrm>
            <a:off x="6846963" y="3916785"/>
            <a:ext cx="5086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”</a:t>
            </a:r>
            <a:r>
              <a:rPr kumimoji="1" lang="ja-JP" altLang="en-US"/>
              <a:t>属性</a:t>
            </a:r>
            <a:r>
              <a:rPr kumimoji="1" lang="en-US" altLang="ja-JP" dirty="0"/>
              <a:t>”</a:t>
            </a:r>
            <a:r>
              <a:rPr lang="ja-JP" altLang="en-US"/>
              <a:t>は火</a:t>
            </a:r>
            <a:r>
              <a:rPr lang="en-US" altLang="ja-JP" dirty="0"/>
              <a:t>, </a:t>
            </a:r>
            <a:r>
              <a:rPr lang="ja-JP" altLang="en-US"/>
              <a:t>水</a:t>
            </a:r>
            <a:r>
              <a:rPr lang="en-US" altLang="ja-JP" dirty="0"/>
              <a:t>, </a:t>
            </a:r>
            <a:r>
              <a:rPr lang="ja-JP" altLang="en-US"/>
              <a:t>木</a:t>
            </a:r>
            <a:r>
              <a:rPr lang="en-US" altLang="ja-JP" dirty="0"/>
              <a:t> , </a:t>
            </a:r>
            <a:r>
              <a:rPr lang="ja-JP" altLang="en-US"/>
              <a:t>光</a:t>
            </a:r>
            <a:r>
              <a:rPr lang="en-US" altLang="ja-JP" dirty="0"/>
              <a:t> , </a:t>
            </a:r>
            <a:r>
              <a:rPr lang="ja-JP" altLang="en-US"/>
              <a:t>闇</a:t>
            </a:r>
            <a:r>
              <a:rPr lang="en-US" altLang="ja-JP" dirty="0"/>
              <a:t> , </a:t>
            </a:r>
            <a:r>
              <a:rPr lang="ja-JP" altLang="en-US"/>
              <a:t>神</a:t>
            </a:r>
            <a:r>
              <a:rPr lang="en-US" altLang="ja-JP" dirty="0"/>
              <a:t> , </a:t>
            </a:r>
            <a:r>
              <a:rPr lang="ja-JP" altLang="en-US"/>
              <a:t>無があります</a:t>
            </a:r>
            <a:endParaRPr lang="en-US" altLang="ja-JP" dirty="0"/>
          </a:p>
          <a:p>
            <a:r>
              <a:rPr kumimoji="1" lang="en-US" altLang="ja-JP" dirty="0"/>
              <a:t>(</a:t>
            </a:r>
            <a:r>
              <a:rPr kumimoji="1" lang="ja-JP" altLang="en-US"/>
              <a:t>増えていく予定</a:t>
            </a:r>
            <a:r>
              <a:rPr kumimoji="1" lang="en-US" altLang="ja-JP" dirty="0"/>
              <a:t>)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EDA8122-EC7C-779C-D0E0-D03F8B54B609}"/>
              </a:ext>
            </a:extLst>
          </p:cNvPr>
          <p:cNvSpPr txBox="1"/>
          <p:nvPr/>
        </p:nvSpPr>
        <p:spPr>
          <a:xfrm>
            <a:off x="6846963" y="4864832"/>
            <a:ext cx="5192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”</a:t>
            </a:r>
            <a:r>
              <a:rPr kumimoji="1" lang="ja-JP" altLang="en-US"/>
              <a:t>コスト</a:t>
            </a:r>
            <a:r>
              <a:rPr kumimoji="1" lang="en-US" altLang="ja-JP" dirty="0"/>
              <a:t>”</a:t>
            </a:r>
            <a:r>
              <a:rPr lang="ja-JP" altLang="en-US"/>
              <a:t>は召喚するために必要な</a:t>
            </a:r>
            <a:r>
              <a:rPr lang="en-US" altLang="ja-JP" dirty="0"/>
              <a:t>”</a:t>
            </a:r>
            <a:r>
              <a:rPr lang="ja-JP" altLang="en-US"/>
              <a:t>マナ</a:t>
            </a:r>
            <a:r>
              <a:rPr lang="en-US" altLang="ja-JP" dirty="0"/>
              <a:t>”</a:t>
            </a:r>
            <a:r>
              <a:rPr lang="ja-JP" altLang="en-US"/>
              <a:t>の数を</a:t>
            </a:r>
            <a:endParaRPr lang="en-US" altLang="ja-JP" dirty="0"/>
          </a:p>
          <a:p>
            <a:r>
              <a:rPr lang="ja-JP" altLang="en-US"/>
              <a:t>指します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35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EBF22-C943-33C6-EEF5-05F6D297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キャラの耐性</a:t>
            </a:r>
            <a:r>
              <a:rPr kumimoji="1" lang="en-US" altLang="ja-JP" dirty="0"/>
              <a:t> </a:t>
            </a:r>
            <a:r>
              <a:rPr kumimoji="1" lang="ja-JP" altLang="en-US"/>
              <a:t>属性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3C5074-B9C8-99AD-E83A-AC2A1D5E5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141" y="1960562"/>
            <a:ext cx="10515600" cy="4351338"/>
          </a:xfrm>
        </p:spPr>
        <p:txBody>
          <a:bodyPr/>
          <a:lstStyle/>
          <a:p>
            <a:r>
              <a:rPr kumimoji="1" lang="ja-JP" altLang="en-US"/>
              <a:t>脆弱　受けるダメージが二倍</a:t>
            </a:r>
            <a:endParaRPr kumimoji="1" lang="en-US" altLang="ja-JP" dirty="0"/>
          </a:p>
          <a:p>
            <a:r>
              <a:rPr lang="ja-JP" altLang="en-US"/>
              <a:t>弱点　受けるダメージ</a:t>
            </a:r>
            <a:r>
              <a:rPr lang="en-US" altLang="ja-JP" dirty="0"/>
              <a:t> +20</a:t>
            </a:r>
            <a:endParaRPr kumimoji="1" lang="en-US" altLang="ja-JP" dirty="0"/>
          </a:p>
          <a:p>
            <a:r>
              <a:rPr lang="ja-JP" altLang="en-US"/>
              <a:t>耐性　受けるダメージ</a:t>
            </a:r>
            <a:r>
              <a:rPr lang="en-US" altLang="ja-JP"/>
              <a:t> - </a:t>
            </a:r>
            <a:r>
              <a:rPr lang="en-US" altLang="ja-JP" dirty="0"/>
              <a:t>20</a:t>
            </a:r>
          </a:p>
          <a:p>
            <a:r>
              <a:rPr lang="ja-JP" altLang="en-US"/>
              <a:t>無効　受けるダメージ</a:t>
            </a:r>
            <a:r>
              <a:rPr lang="en-US" altLang="ja-JP" dirty="0"/>
              <a:t> 0</a:t>
            </a:r>
          </a:p>
          <a:p>
            <a:r>
              <a:rPr lang="ja-JP" altLang="en-US"/>
              <a:t>反射　受けるダメージを反射する</a:t>
            </a:r>
            <a:endParaRPr lang="en-US" altLang="ja-JP" dirty="0"/>
          </a:p>
          <a:p>
            <a:r>
              <a:rPr lang="ja-JP" altLang="en-US"/>
              <a:t>吸収</a:t>
            </a:r>
            <a:r>
              <a:rPr lang="en-US" altLang="ja-JP" dirty="0"/>
              <a:t>(</a:t>
            </a:r>
            <a:r>
              <a:rPr lang="ja-JP" altLang="en-US"/>
              <a:t>かなりレア</a:t>
            </a:r>
            <a:r>
              <a:rPr lang="en-US" altLang="ja-JP" dirty="0"/>
              <a:t>)</a:t>
            </a:r>
            <a:r>
              <a:rPr lang="ja-JP" altLang="en-US"/>
              <a:t>　受けるダメージ分</a:t>
            </a:r>
            <a:r>
              <a:rPr lang="en-US" altLang="ja-JP" dirty="0"/>
              <a:t>HP</a:t>
            </a:r>
            <a:r>
              <a:rPr lang="ja-JP" altLang="en-US"/>
              <a:t>回復</a:t>
            </a:r>
            <a:endParaRPr lang="en-US" altLang="ja-JP" dirty="0"/>
          </a:p>
        </p:txBody>
      </p:sp>
      <p:sp>
        <p:nvSpPr>
          <p:cNvPr id="4" name="上下矢印 3">
            <a:extLst>
              <a:ext uri="{FF2B5EF4-FFF2-40B4-BE49-F238E27FC236}">
                <a16:creationId xmlns:a16="http://schemas.microsoft.com/office/drawing/2014/main" id="{A3C7BF34-88A8-E213-66C4-3A7D0C0311F1}"/>
              </a:ext>
            </a:extLst>
          </p:cNvPr>
          <p:cNvSpPr/>
          <p:nvPr/>
        </p:nvSpPr>
        <p:spPr>
          <a:xfrm>
            <a:off x="1863811" y="2233290"/>
            <a:ext cx="345989" cy="3805881"/>
          </a:xfrm>
          <a:prstGeom prst="up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262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6C3368-7C18-A688-7132-3B8FF83E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サポートカード</a:t>
            </a:r>
          </a:p>
        </p:txBody>
      </p:sp>
      <p:pic>
        <p:nvPicPr>
          <p:cNvPr id="5" name="図 4" descr="ダイアグラム&#10;&#10;自動的に生成された説明">
            <a:extLst>
              <a:ext uri="{FF2B5EF4-FFF2-40B4-BE49-F238E27FC236}">
                <a16:creationId xmlns:a16="http://schemas.microsoft.com/office/drawing/2014/main" id="{63655EBF-BC63-9D48-A7E9-AE6C3C3A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66" y="1692275"/>
            <a:ext cx="6253950" cy="494559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49E3FFC-B67B-AB5A-9978-6BB5ED90F49F}"/>
              </a:ext>
            </a:extLst>
          </p:cNvPr>
          <p:cNvSpPr txBox="1"/>
          <p:nvPr/>
        </p:nvSpPr>
        <p:spPr>
          <a:xfrm>
            <a:off x="7416800" y="1456267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・コストの数だけマナを消費する。</a:t>
            </a:r>
            <a:endParaRPr kumimoji="1" lang="en-US" altLang="ja-JP" dirty="0"/>
          </a:p>
          <a:p>
            <a:r>
              <a:rPr lang="ja-JP" altLang="en-US"/>
              <a:t>まぁここら辺は同じ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B221A6-2237-6950-E7A1-BEC873A17405}"/>
              </a:ext>
            </a:extLst>
          </p:cNvPr>
          <p:cNvSpPr txBox="1"/>
          <p:nvPr/>
        </p:nvSpPr>
        <p:spPr>
          <a:xfrm>
            <a:off x="7416799" y="287057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・使ったら墓地に行く</a:t>
            </a:r>
          </a:p>
        </p:txBody>
      </p:sp>
    </p:spTree>
    <p:extLst>
      <p:ext uri="{BB962C8B-B14F-4D97-AF65-F5344CB8AC3E}">
        <p14:creationId xmlns:p14="http://schemas.microsoft.com/office/powerpoint/2010/main" val="2521892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337D97-1DDA-4BD8-62E2-17E927276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コアカード</a:t>
            </a:r>
          </a:p>
        </p:txBody>
      </p:sp>
      <p:pic>
        <p:nvPicPr>
          <p:cNvPr id="5" name="コンテンツ プレースホルダー 4" descr="ダイアグラム&#10;&#10;自動的に生成された説明">
            <a:extLst>
              <a:ext uri="{FF2B5EF4-FFF2-40B4-BE49-F238E27FC236}">
                <a16:creationId xmlns:a16="http://schemas.microsoft.com/office/drawing/2014/main" id="{03582E52-BE45-E4F2-14E5-597713ACE1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171" y="1690688"/>
            <a:ext cx="5225924" cy="4351338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FA216D0-E02B-8ED7-6EB8-F88BAF8CD6DF}"/>
              </a:ext>
            </a:extLst>
          </p:cNvPr>
          <p:cNvSpPr txBox="1"/>
          <p:nvPr/>
        </p:nvSpPr>
        <p:spPr>
          <a:xfrm>
            <a:off x="5408877" y="1690688"/>
            <a:ext cx="6417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・コアコストは</a:t>
            </a:r>
            <a:r>
              <a:rPr kumimoji="1" lang="en-US" altLang="ja-JP" dirty="0"/>
              <a:t>”</a:t>
            </a:r>
            <a:r>
              <a:rPr lang="ja-JP" altLang="en-US"/>
              <a:t>マナ</a:t>
            </a:r>
            <a:r>
              <a:rPr kumimoji="1" lang="en-US" altLang="ja-JP" dirty="0"/>
              <a:t>”</a:t>
            </a:r>
            <a:r>
              <a:rPr kumimoji="1" lang="ja-JP" altLang="en-US"/>
              <a:t>を使わずに、コストゾーン</a:t>
            </a:r>
            <a:endParaRPr kumimoji="1" lang="en-US" altLang="ja-JP" dirty="0"/>
          </a:p>
          <a:p>
            <a:r>
              <a:rPr lang="ja-JP" altLang="en-US"/>
              <a:t>のカードをコアコストの数だけ墓地に送ることで発動できる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6621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5F872D-52CC-97A8-C834-379E2A295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34" y="178858"/>
            <a:ext cx="10515600" cy="1325563"/>
          </a:xfrm>
        </p:spPr>
        <p:txBody>
          <a:bodyPr/>
          <a:lstStyle/>
          <a:p>
            <a:r>
              <a:rPr kumimoji="1" lang="ja-JP" altLang="en-US"/>
              <a:t>対戦の進め方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60998B-90CF-60F1-659A-BFBAA647D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421"/>
            <a:ext cx="10515600" cy="2322512"/>
          </a:xfrm>
        </p:spPr>
        <p:txBody>
          <a:bodyPr/>
          <a:lstStyle/>
          <a:p>
            <a:r>
              <a:rPr kumimoji="1" lang="en-US" altLang="ja-JP" dirty="0"/>
              <a:t>1. </a:t>
            </a:r>
            <a:r>
              <a:rPr kumimoji="1" lang="ja-JP" altLang="en-US"/>
              <a:t>基本的にキャラカードで戦闘をして相手の</a:t>
            </a:r>
            <a:r>
              <a:rPr kumimoji="1" lang="en-US" altLang="ja-JP" dirty="0"/>
              <a:t>LP</a:t>
            </a:r>
            <a:r>
              <a:rPr kumimoji="1" lang="ja-JP" altLang="en-US"/>
              <a:t>を削る</a:t>
            </a:r>
            <a:endParaRPr kumimoji="1" lang="en-US" altLang="ja-JP" dirty="0"/>
          </a:p>
          <a:p>
            <a:r>
              <a:rPr lang="en-US" altLang="ja-JP" dirty="0"/>
              <a:t>2. </a:t>
            </a:r>
            <a:r>
              <a:rPr lang="ja-JP" altLang="en-US"/>
              <a:t>サポートカードで補助して有利に進める</a:t>
            </a:r>
            <a:endParaRPr lang="en-US" altLang="ja-JP" dirty="0"/>
          </a:p>
          <a:p>
            <a:r>
              <a:rPr kumimoji="1" lang="en-US" altLang="ja-JP" dirty="0"/>
              <a:t>3. </a:t>
            </a:r>
            <a:r>
              <a:rPr kumimoji="1" lang="ja-JP" altLang="en-US"/>
              <a:t>危なくなったらコアカードで逆転を狙う</a:t>
            </a:r>
          </a:p>
        </p:txBody>
      </p:sp>
    </p:spTree>
    <p:extLst>
      <p:ext uri="{BB962C8B-B14F-4D97-AF65-F5344CB8AC3E}">
        <p14:creationId xmlns:p14="http://schemas.microsoft.com/office/powerpoint/2010/main" val="359624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9E4BE5-563B-1F66-C180-85FD678F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対戦に使うもの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A09180-F6EE-4FEC-D83E-9E89F53E9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1D100 , 1D7</a:t>
            </a:r>
            <a:r>
              <a:rPr kumimoji="1" lang="ja-JP" altLang="en-US"/>
              <a:t>　をふれるもの　</a:t>
            </a:r>
            <a:r>
              <a:rPr kumimoji="1" lang="en-US" altLang="ja-JP" dirty="0"/>
              <a:t>(</a:t>
            </a:r>
            <a:r>
              <a:rPr kumimoji="1" lang="ja-JP" altLang="en-US"/>
              <a:t>サイコロなり乱数メーカーなり</a:t>
            </a:r>
            <a:r>
              <a:rPr kumimoji="1" lang="en-US" altLang="ja-JP" dirty="0"/>
              <a:t>)</a:t>
            </a:r>
          </a:p>
          <a:p>
            <a:endParaRPr lang="en-US" altLang="ja-JP" dirty="0"/>
          </a:p>
          <a:p>
            <a:r>
              <a:rPr kumimoji="1" lang="ja-JP" altLang="en-US"/>
              <a:t>ダメージ計算するもの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/>
              <a:t>状態異常を表すマーカーかなんか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/>
              <a:t>マナカウンターかあってもいいかも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8846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7A044B-5718-CE33-FF0D-264F15885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対戦</a:t>
            </a:r>
            <a:r>
              <a:rPr kumimoji="1" lang="ja-JP" altLang="en-US"/>
              <a:t>の準備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02CF9F-B318-4F97-DBF1-6B5836E6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1. </a:t>
            </a:r>
            <a:r>
              <a:rPr kumimoji="1" lang="ja-JP" altLang="en-US"/>
              <a:t>サイコロの出目で先攻・後攻を決める</a:t>
            </a:r>
            <a:endParaRPr kumimoji="1" lang="en-US" altLang="ja-JP" dirty="0"/>
          </a:p>
          <a:p>
            <a:r>
              <a:rPr lang="en-US" altLang="ja-JP" dirty="0"/>
              <a:t>2. </a:t>
            </a:r>
            <a:r>
              <a:rPr lang="ja-JP" altLang="en-US"/>
              <a:t>山札をシャッフルしておく</a:t>
            </a:r>
            <a:endParaRPr lang="en-US" altLang="ja-JP" dirty="0"/>
          </a:p>
          <a:p>
            <a:r>
              <a:rPr kumimoji="1" lang="en-US" altLang="ja-JP" dirty="0"/>
              <a:t>3. </a:t>
            </a:r>
            <a:r>
              <a:rPr kumimoji="1" lang="ja-JP" altLang="en-US"/>
              <a:t>お互いに手札を</a:t>
            </a:r>
            <a:r>
              <a:rPr lang="en-US" altLang="ja-JP" dirty="0"/>
              <a:t>5</a:t>
            </a:r>
            <a:r>
              <a:rPr kumimoji="1" lang="ja-JP" altLang="en-US"/>
              <a:t>枚引く</a:t>
            </a:r>
            <a:endParaRPr kumimoji="1" lang="en-US" altLang="ja-JP" dirty="0"/>
          </a:p>
          <a:p>
            <a:r>
              <a:rPr lang="en-US" altLang="ja-JP" dirty="0"/>
              <a:t>4. </a:t>
            </a:r>
            <a:r>
              <a:rPr lang="ja-JP" altLang="en-US"/>
              <a:t>お互いの</a:t>
            </a:r>
            <a:r>
              <a:rPr lang="en-US" altLang="ja-JP" dirty="0"/>
              <a:t>LP</a:t>
            </a:r>
            <a:r>
              <a:rPr lang="ja-JP" altLang="en-US"/>
              <a:t>を</a:t>
            </a:r>
            <a:r>
              <a:rPr lang="en-US" altLang="ja-JP" dirty="0"/>
              <a:t>”150”(</a:t>
            </a:r>
            <a:r>
              <a:rPr lang="ja-JP" altLang="en-US"/>
              <a:t>別になんぼでもええけど</a:t>
            </a:r>
            <a:r>
              <a:rPr lang="en-US" altLang="ja-JP" dirty="0"/>
              <a:t>)</a:t>
            </a:r>
            <a:r>
              <a:rPr lang="ja-JP" altLang="en-US"/>
              <a:t>、マナを“</a:t>
            </a:r>
            <a:r>
              <a:rPr lang="en-US" altLang="ja-JP" dirty="0"/>
              <a:t>0”</a:t>
            </a:r>
            <a:r>
              <a:rPr lang="ja-JP" altLang="en-US"/>
              <a:t>に設定する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3537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FC0952-A1F7-BDE5-4AA0-F3E8B498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対戦の流れ</a:t>
            </a:r>
            <a:endParaRPr kumimoji="1" lang="ja-JP" altLang="en-US"/>
          </a:p>
        </p:txBody>
      </p:sp>
      <p:pic>
        <p:nvPicPr>
          <p:cNvPr id="5" name="コンテンツ プレースホルダー 4" descr="文字と写真のスクリーンショット&#10;&#10;自動的に生成された説明">
            <a:extLst>
              <a:ext uri="{FF2B5EF4-FFF2-40B4-BE49-F238E27FC236}">
                <a16:creationId xmlns:a16="http://schemas.microsoft.com/office/drawing/2014/main" id="{F1545B0A-2D75-7418-9629-7D8EA2AF0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933" y="2038350"/>
            <a:ext cx="7217632" cy="3552826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8FBF486-4C19-EAA4-B472-C8CBD296A0D4}"/>
              </a:ext>
            </a:extLst>
          </p:cNvPr>
          <p:cNvSpPr txBox="1"/>
          <p:nvPr/>
        </p:nvSpPr>
        <p:spPr>
          <a:xfrm>
            <a:off x="7937480" y="3429000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・それぞれのフェーズについて</a:t>
            </a:r>
            <a:endParaRPr kumimoji="1" lang="en-US" altLang="ja-JP" dirty="0"/>
          </a:p>
          <a:p>
            <a:pPr algn="ctr"/>
            <a:r>
              <a:rPr kumimoji="1" lang="ja-JP" altLang="en-US"/>
              <a:t>次スライドで説明する</a:t>
            </a:r>
          </a:p>
        </p:txBody>
      </p:sp>
    </p:spTree>
    <p:extLst>
      <p:ext uri="{BB962C8B-B14F-4D97-AF65-F5344CB8AC3E}">
        <p14:creationId xmlns:p14="http://schemas.microsoft.com/office/powerpoint/2010/main" val="3879489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13DCAF-3F48-E851-028D-ABDD025E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</a:t>
            </a:r>
            <a:r>
              <a:rPr kumimoji="1" lang="ja-JP" altLang="en-US"/>
              <a:t>ドローフェーズ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1A3A6E-0258-D9C0-965E-3BB5C90F7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山札の</a:t>
            </a:r>
            <a:r>
              <a:rPr kumimoji="1" lang="en-US" altLang="ja-JP" dirty="0"/>
              <a:t>1</a:t>
            </a:r>
            <a:r>
              <a:rPr kumimoji="1" lang="ja-JP" altLang="en-US"/>
              <a:t>番上から</a:t>
            </a:r>
            <a:r>
              <a:rPr kumimoji="1" lang="en-US" altLang="ja-JP" dirty="0"/>
              <a:t>1</a:t>
            </a:r>
            <a:r>
              <a:rPr kumimoji="1" lang="ja-JP" altLang="en-US"/>
              <a:t>枚手札に加える</a:t>
            </a:r>
            <a:endParaRPr kumimoji="1" lang="en-US" altLang="ja-JP" dirty="0"/>
          </a:p>
          <a:p>
            <a:r>
              <a:rPr lang="ja-JP" altLang="en-US"/>
              <a:t>この時点で引くことができないと負けとなる</a:t>
            </a:r>
            <a:endParaRPr lang="en-US" altLang="ja-JP" dirty="0"/>
          </a:p>
          <a:p>
            <a:r>
              <a:rPr kumimoji="1" lang="ja-JP" altLang="en-US"/>
              <a:t>先行の</a:t>
            </a:r>
            <a:r>
              <a:rPr kumimoji="1" lang="en-US" altLang="ja-JP" dirty="0"/>
              <a:t>1</a:t>
            </a:r>
            <a:r>
              <a:rPr kumimoji="1" lang="ja-JP" altLang="en-US"/>
              <a:t>ターン目はこのフェーズをスキップ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83A6C99-29C3-E13C-A44E-100438C0B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9" y="4384147"/>
            <a:ext cx="3430697" cy="179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690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AE9E36-A9D9-E903-BF6F-B1F09498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</a:t>
            </a:r>
            <a:r>
              <a:rPr kumimoji="1" lang="ja-JP" altLang="en-US"/>
              <a:t>マナフェーズ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7B2529-DEAC-4F7D-52EE-3BB3F0BB1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>
                <a:solidFill>
                  <a:srgbClr val="FF0000"/>
                </a:solidFill>
              </a:rPr>
              <a:t>全員</a:t>
            </a:r>
            <a:r>
              <a:rPr kumimoji="1" lang="ja-JP" altLang="en-US"/>
              <a:t>のマナを全回復したのち、</a:t>
            </a:r>
            <a:r>
              <a:rPr kumimoji="1" lang="ja-JP" altLang="en-US">
                <a:solidFill>
                  <a:srgbClr val="FF0000"/>
                </a:solidFill>
              </a:rPr>
              <a:t>全員の</a:t>
            </a:r>
            <a:r>
              <a:rPr kumimoji="1" lang="ja-JP" altLang="en-US"/>
              <a:t>マナ最大値を</a:t>
            </a:r>
            <a:r>
              <a:rPr kumimoji="1" lang="en-US" altLang="ja-JP" dirty="0"/>
              <a:t>+1</a:t>
            </a:r>
            <a:r>
              <a:rPr kumimoji="1" lang="ja-JP" altLang="en-US"/>
              <a:t>する。</a:t>
            </a:r>
            <a:endParaRPr kumimoji="1" lang="en-US" altLang="ja-JP" dirty="0"/>
          </a:p>
          <a:p>
            <a:r>
              <a:rPr lang="ja-JP" altLang="en-US"/>
              <a:t>マナ</a:t>
            </a:r>
            <a:r>
              <a:rPr lang="en-US" altLang="ja-JP" dirty="0"/>
              <a:t> : </a:t>
            </a:r>
            <a:r>
              <a:rPr lang="ja-JP" altLang="en-US"/>
              <a:t>カードを出すために必要になる。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状態異常によるダメージをここで計算する。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/>
              <a:t>全員のマナを増やすことで後攻が攻撃することを可能にしてある。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(</a:t>
            </a:r>
            <a:r>
              <a:rPr kumimoji="1" lang="ja-JP" altLang="en-US"/>
              <a:t>具体例</a:t>
            </a:r>
            <a:r>
              <a:rPr kumimoji="1" lang="en-US" altLang="ja-JP" dirty="0"/>
              <a:t> ) 1</a:t>
            </a:r>
            <a:r>
              <a:rPr kumimoji="1" lang="ja-JP" altLang="en-US"/>
              <a:t>コストキャラ召喚</a:t>
            </a:r>
            <a:r>
              <a:rPr kumimoji="1" lang="en-US" altLang="ja-JP" dirty="0"/>
              <a:t> </a:t>
            </a:r>
            <a:r>
              <a:rPr kumimoji="1" lang="ja-JP" altLang="en-US"/>
              <a:t>→</a:t>
            </a:r>
            <a:r>
              <a:rPr kumimoji="1" lang="en-US" altLang="ja-JP" dirty="0"/>
              <a:t> 1</a:t>
            </a:r>
            <a:r>
              <a:rPr kumimoji="1" lang="ja-JP" altLang="en-US"/>
              <a:t>マナ使って攻撃</a:t>
            </a:r>
          </a:p>
        </p:txBody>
      </p:sp>
    </p:spTree>
    <p:extLst>
      <p:ext uri="{BB962C8B-B14F-4D97-AF65-F5344CB8AC3E}">
        <p14:creationId xmlns:p14="http://schemas.microsoft.com/office/powerpoint/2010/main" val="3192099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E77C73-1893-291F-A298-3633C2E7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3. </a:t>
            </a:r>
            <a:r>
              <a:rPr kumimoji="1" lang="ja-JP" altLang="en-US"/>
              <a:t>セットフェーズ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93EF40-C8D3-A7F2-6015-727BCEDE8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ja-JP" altLang="en-US"/>
              <a:t>マナを使って、カードを召喚したり、サポートカード</a:t>
            </a:r>
            <a:r>
              <a:rPr kumimoji="1" lang="en-US" altLang="ja-JP" dirty="0"/>
              <a:t> , </a:t>
            </a:r>
            <a:r>
              <a:rPr kumimoji="1" lang="ja-JP" altLang="en-US"/>
              <a:t>コアカード</a:t>
            </a:r>
            <a:r>
              <a:rPr kumimoji="1" lang="en-US" altLang="ja-JP" dirty="0"/>
              <a:t>, </a:t>
            </a:r>
            <a:r>
              <a:rPr kumimoji="1" lang="ja-JP" altLang="en-US"/>
              <a:t>特殊技能</a:t>
            </a:r>
            <a:r>
              <a:rPr kumimoji="1" lang="en-US" altLang="ja-JP" dirty="0"/>
              <a:t> </a:t>
            </a:r>
            <a:r>
              <a:rPr kumimoji="1" lang="ja-JP" altLang="en-US"/>
              <a:t>の効果を発動できる。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”</a:t>
            </a:r>
            <a:r>
              <a:rPr kumimoji="1" lang="ja-JP" altLang="en-US"/>
              <a:t>前衛</a:t>
            </a:r>
            <a:r>
              <a:rPr kumimoji="1" lang="en-US" altLang="ja-JP" dirty="0"/>
              <a:t>” , “</a:t>
            </a:r>
            <a:r>
              <a:rPr kumimoji="1" lang="ja-JP" altLang="en-US"/>
              <a:t>中央</a:t>
            </a:r>
            <a:r>
              <a:rPr kumimoji="1" lang="en-US" altLang="ja-JP" dirty="0"/>
              <a:t>” , ”</a:t>
            </a:r>
            <a:r>
              <a:rPr kumimoji="1" lang="ja-JP" altLang="en-US"/>
              <a:t>後衛</a:t>
            </a:r>
            <a:r>
              <a:rPr kumimoji="1" lang="en-US" altLang="ja-JP" dirty="0"/>
              <a:t>”</a:t>
            </a:r>
            <a:r>
              <a:rPr kumimoji="1" lang="ja-JP" altLang="en-US"/>
              <a:t>の位置移動ができる。</a:t>
            </a:r>
            <a:r>
              <a:rPr kumimoji="1" lang="en-US" altLang="ja-JP" dirty="0"/>
              <a:t>(</a:t>
            </a:r>
            <a:r>
              <a:rPr lang="ja-JP" altLang="en-US"/>
              <a:t>位置移動は</a:t>
            </a:r>
            <a:r>
              <a:rPr lang="en-US" altLang="ja-JP" dirty="0"/>
              <a:t>1</a:t>
            </a:r>
            <a:r>
              <a:rPr lang="ja-JP" altLang="en-US"/>
              <a:t>キャラ</a:t>
            </a:r>
            <a:r>
              <a:rPr lang="en-US" altLang="ja-JP" dirty="0"/>
              <a:t>1</a:t>
            </a:r>
            <a:r>
              <a:rPr lang="ja-JP" altLang="en-US"/>
              <a:t>回まで</a:t>
            </a:r>
            <a:r>
              <a:rPr kumimoji="1" lang="en-US" altLang="ja-JP" dirty="0"/>
              <a:t>) (</a:t>
            </a:r>
            <a:r>
              <a:rPr kumimoji="1" lang="ja-JP" altLang="en-US"/>
              <a:t>位置については別の言い方あり</a:t>
            </a:r>
            <a:r>
              <a:rPr kumimoji="1" lang="en-US" altLang="ja-JP" dirty="0"/>
              <a:t>)</a:t>
            </a:r>
          </a:p>
          <a:p>
            <a:endParaRPr kumimoji="1" lang="en-US" altLang="ja-JP" dirty="0"/>
          </a:p>
          <a:p>
            <a:r>
              <a:rPr lang="ja-JP" altLang="en-US"/>
              <a:t>召喚についてはマナがあるかぎり何体でもいけるが、フィールドに存在できるキャラは</a:t>
            </a:r>
            <a:r>
              <a:rPr lang="en-US" altLang="ja-JP" dirty="0"/>
              <a:t>4</a:t>
            </a:r>
            <a:r>
              <a:rPr lang="ja-JP" altLang="en-US"/>
              <a:t>体までとする。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効果の優先権</a:t>
            </a:r>
            <a:r>
              <a:rPr lang="en-US" altLang="ja-JP" dirty="0"/>
              <a:t>(</a:t>
            </a:r>
            <a:r>
              <a:rPr lang="ja-JP" altLang="en-US"/>
              <a:t>優先的に効果が発動する権利</a:t>
            </a:r>
            <a:r>
              <a:rPr lang="en-US" altLang="ja-JP" dirty="0"/>
              <a:t>)</a:t>
            </a:r>
            <a:r>
              <a:rPr lang="ja-JP" altLang="en-US"/>
              <a:t>はターンプレイヤーにある</a:t>
            </a:r>
            <a:endParaRPr lang="en-US" altLang="ja-JP" dirty="0"/>
          </a:p>
          <a:p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529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89F5CA-FDDD-13D8-36E4-A508E17F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4.</a:t>
            </a:r>
            <a:r>
              <a:rPr lang="en-US" altLang="ja-JP" dirty="0"/>
              <a:t> </a:t>
            </a:r>
            <a:r>
              <a:rPr kumimoji="1" lang="ja-JP" altLang="en-US"/>
              <a:t>バトルフェーズ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1B1998-8565-264C-1303-A8D9316EF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それぞれのキャラの行動</a:t>
            </a:r>
            <a:r>
              <a:rPr kumimoji="1" lang="en-US" altLang="ja-JP" dirty="0"/>
              <a:t> / </a:t>
            </a:r>
            <a:r>
              <a:rPr kumimoji="1" lang="ja-JP" altLang="en-US"/>
              <a:t>特殊技能を使い相手のキャラにダメージを与える。</a:t>
            </a:r>
            <a:r>
              <a:rPr kumimoji="1" lang="en-US" altLang="ja-JP" dirty="0"/>
              <a:t>HP</a:t>
            </a:r>
            <a:r>
              <a:rPr kumimoji="1" lang="ja-JP" altLang="en-US"/>
              <a:t>が</a:t>
            </a:r>
            <a:r>
              <a:rPr kumimoji="1" lang="en-US" altLang="ja-JP" dirty="0"/>
              <a:t>0</a:t>
            </a:r>
            <a:r>
              <a:rPr kumimoji="1" lang="ja-JP" altLang="en-US"/>
              <a:t>以下になれば墓地に送る。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/>
              <a:t>もしキャラがいない場合</a:t>
            </a:r>
            <a:r>
              <a:rPr kumimoji="1" lang="en-US" altLang="ja-JP" dirty="0"/>
              <a:t>, </a:t>
            </a:r>
            <a:r>
              <a:rPr kumimoji="1" lang="ja-JP" altLang="en-US"/>
              <a:t>キャラの</a:t>
            </a:r>
            <a:r>
              <a:rPr kumimoji="1" lang="en-US" altLang="ja-JP" dirty="0"/>
              <a:t>HP</a:t>
            </a:r>
            <a:r>
              <a:rPr kumimoji="1" lang="ja-JP" altLang="en-US"/>
              <a:t>を超えたダメージ分</a:t>
            </a:r>
            <a:r>
              <a:rPr kumimoji="1" lang="en-US" altLang="ja-JP" dirty="0"/>
              <a:t>, </a:t>
            </a:r>
          </a:p>
          <a:p>
            <a:pPr marL="0" indent="0">
              <a:buNone/>
            </a:pPr>
            <a:r>
              <a:rPr kumimoji="1" lang="ja-JP" altLang="en-US"/>
              <a:t>相手の</a:t>
            </a:r>
            <a:r>
              <a:rPr kumimoji="1" lang="en-US" altLang="ja-JP" dirty="0"/>
              <a:t>LP</a:t>
            </a:r>
            <a:r>
              <a:rPr kumimoji="1" lang="ja-JP" altLang="en-US"/>
              <a:t>を減らす。</a:t>
            </a:r>
            <a:endParaRPr kumimoji="1" lang="en-US" altLang="ja-JP" dirty="0"/>
          </a:p>
          <a:p>
            <a:r>
              <a:rPr lang="ja-JP" altLang="en-US">
                <a:solidFill>
                  <a:srgbClr val="FF0000"/>
                </a:solidFill>
              </a:rPr>
              <a:t>ダメージを受け体力が</a:t>
            </a:r>
            <a:r>
              <a:rPr lang="en-US" altLang="ja-JP" dirty="0">
                <a:solidFill>
                  <a:srgbClr val="FF0000"/>
                </a:solidFill>
              </a:rPr>
              <a:t>2/3 , 1/3</a:t>
            </a:r>
            <a:r>
              <a:rPr lang="ja-JP" altLang="en-US">
                <a:solidFill>
                  <a:srgbClr val="FF0000"/>
                </a:solidFill>
              </a:rPr>
              <a:t>になったときにダメージを受けたプレイヤーは山札の上から一枚コアゾーンに送る。</a:t>
            </a:r>
            <a:endParaRPr lang="en-US" altLang="ja-JP" dirty="0">
              <a:solidFill>
                <a:srgbClr val="FF0000"/>
              </a:solidFill>
            </a:endParaRPr>
          </a:p>
          <a:p>
            <a:endParaRPr kumimoji="1" lang="en-US" altLang="ja-JP" dirty="0"/>
          </a:p>
          <a:p>
            <a:r>
              <a:rPr lang="ja-JP" altLang="en-US"/>
              <a:t>攻撃には</a:t>
            </a:r>
            <a:r>
              <a:rPr lang="en-US" altLang="ja-JP" dirty="0"/>
              <a:t>1</a:t>
            </a:r>
            <a:r>
              <a:rPr lang="ja-JP" altLang="en-US"/>
              <a:t>キャラにつき、</a:t>
            </a:r>
            <a:r>
              <a:rPr lang="en-US" altLang="ja-JP" dirty="0">
                <a:solidFill>
                  <a:srgbClr val="FF0000"/>
                </a:solidFill>
              </a:rPr>
              <a:t>1</a:t>
            </a:r>
            <a:r>
              <a:rPr lang="ja-JP" altLang="en-US">
                <a:solidFill>
                  <a:srgbClr val="FF0000"/>
                </a:solidFill>
              </a:rPr>
              <a:t>マナ</a:t>
            </a:r>
            <a:r>
              <a:rPr lang="ja-JP" altLang="en-US"/>
              <a:t>使う。</a:t>
            </a:r>
            <a:r>
              <a:rPr lang="en-US" altLang="ja-JP" dirty="0"/>
              <a:t>(</a:t>
            </a:r>
            <a:r>
              <a:rPr lang="ja-JP" altLang="en-US"/>
              <a:t>例外あり</a:t>
            </a: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222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F809F-B3BB-9D82-7AD0-3A8543F6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 </a:t>
            </a:r>
            <a:r>
              <a:rPr kumimoji="1" lang="ja-JP" altLang="en-US"/>
              <a:t>エンドフェーズ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B06676-E8FD-EB09-A336-3C7025A6C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相手のターンに回す。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/>
              <a:t>自分のキャラにかかってる一時的なバフ・デバフをここで解除する。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70AFF83-E44A-3CF6-7E73-069C1ECA5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266" y="4178830"/>
            <a:ext cx="1998133" cy="199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64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DD1D47-BE36-D942-246D-F35417DE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79A6A8-AA04-AE2C-A1A4-4FA11577D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6991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193C96-3827-5DE0-171E-02EA99F4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基本の状態異常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3CD8AE-2555-C602-1E19-A4B17B2A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/>
              <a:t>毒</a:t>
            </a:r>
            <a:r>
              <a:rPr kumimoji="1" lang="en-US" altLang="ja-JP" dirty="0"/>
              <a:t> : </a:t>
            </a:r>
            <a:r>
              <a:rPr kumimoji="1" lang="ja-JP" altLang="en-US"/>
              <a:t>ターンが回るごとに</a:t>
            </a:r>
            <a:r>
              <a:rPr lang="en-US" altLang="ja-JP" dirty="0"/>
              <a:t>1</a:t>
            </a:r>
            <a:r>
              <a:rPr kumimoji="1" lang="en-US" altLang="ja-JP" dirty="0"/>
              <a:t>0</a:t>
            </a:r>
            <a:r>
              <a:rPr kumimoji="1" lang="ja-JP" altLang="en-US"/>
              <a:t>ダメージを受ける。</a:t>
            </a:r>
            <a:r>
              <a:rPr kumimoji="1" lang="en-US" altLang="ja-JP" dirty="0"/>
              <a:t>2</a:t>
            </a:r>
            <a:r>
              <a:rPr kumimoji="1" lang="ja-JP" altLang="en-US"/>
              <a:t>ターンで解除</a:t>
            </a:r>
            <a:endParaRPr kumimoji="1" lang="en-US" altLang="ja-JP" dirty="0"/>
          </a:p>
          <a:p>
            <a:r>
              <a:rPr lang="ja-JP" altLang="en-US"/>
              <a:t>出血</a:t>
            </a:r>
            <a:r>
              <a:rPr lang="en-US" altLang="ja-JP" dirty="0"/>
              <a:t> : </a:t>
            </a:r>
            <a:r>
              <a:rPr lang="ja-JP" altLang="en-US"/>
              <a:t>ターンが回るごとに</a:t>
            </a:r>
            <a:r>
              <a:rPr lang="en-US" altLang="ja-JP" dirty="0"/>
              <a:t>HP</a:t>
            </a:r>
            <a:r>
              <a:rPr lang="ja-JP" altLang="en-US"/>
              <a:t>が</a:t>
            </a:r>
            <a:r>
              <a:rPr lang="en-US" altLang="ja-JP" dirty="0"/>
              <a:t>10</a:t>
            </a:r>
            <a:r>
              <a:rPr lang="ja-JP" altLang="en-US"/>
              <a:t>減る。　</a:t>
            </a:r>
            <a:r>
              <a:rPr lang="en-US" altLang="ja-JP" dirty="0"/>
              <a:t>2</a:t>
            </a:r>
            <a:r>
              <a:rPr lang="ja-JP" altLang="en-US"/>
              <a:t>ターンで解除</a:t>
            </a:r>
            <a:endParaRPr lang="en-US" altLang="ja-JP" dirty="0"/>
          </a:p>
          <a:p>
            <a:r>
              <a:rPr lang="ja-JP" altLang="en-US"/>
              <a:t>マヒ</a:t>
            </a:r>
            <a:r>
              <a:rPr lang="en-US" altLang="ja-JP" dirty="0"/>
              <a:t> : </a:t>
            </a:r>
            <a:r>
              <a:rPr lang="ja-JP" altLang="en-US"/>
              <a:t>行動</a:t>
            </a:r>
            <a:r>
              <a:rPr lang="en-US" altLang="ja-JP" dirty="0"/>
              <a:t> / </a:t>
            </a:r>
            <a:r>
              <a:rPr lang="ja-JP" altLang="en-US"/>
              <a:t>技能の成功率が</a:t>
            </a:r>
            <a:r>
              <a:rPr lang="en-US" altLang="ja-JP" dirty="0"/>
              <a:t>20</a:t>
            </a:r>
            <a:r>
              <a:rPr lang="ja-JP" altLang="en-US"/>
              <a:t>減る。　２ターンで解除</a:t>
            </a:r>
            <a:endParaRPr lang="en-US" altLang="ja-JP" dirty="0"/>
          </a:p>
          <a:p>
            <a:r>
              <a:rPr kumimoji="1" lang="ja-JP" altLang="en-US"/>
              <a:t>パニック</a:t>
            </a:r>
            <a:r>
              <a:rPr kumimoji="1" lang="en-US" altLang="ja-JP" dirty="0"/>
              <a:t> : </a:t>
            </a:r>
            <a:r>
              <a:rPr kumimoji="1" lang="ja-JP" altLang="en-US"/>
              <a:t>位置移動</a:t>
            </a:r>
            <a:r>
              <a:rPr kumimoji="1" lang="en-US" altLang="ja-JP" dirty="0"/>
              <a:t> ,</a:t>
            </a:r>
            <a:r>
              <a:rPr lang="en-US" altLang="ja-JP" dirty="0"/>
              <a:t> </a:t>
            </a:r>
            <a:r>
              <a:rPr lang="ja-JP" altLang="en-US"/>
              <a:t>進化のための素材</a:t>
            </a:r>
            <a:r>
              <a:rPr lang="en-US" altLang="ja-JP" dirty="0"/>
              <a:t> , </a:t>
            </a:r>
            <a:r>
              <a:rPr lang="ja-JP" altLang="en-US"/>
              <a:t>行動</a:t>
            </a:r>
            <a:r>
              <a:rPr lang="en-US" altLang="ja-JP" dirty="0"/>
              <a:t> / </a:t>
            </a:r>
            <a:r>
              <a:rPr lang="ja-JP" altLang="en-US"/>
              <a:t>特殊技能など全ての行動ができなくなる。</a:t>
            </a:r>
            <a:r>
              <a:rPr lang="en-US" altLang="ja-JP" dirty="0"/>
              <a:t> MP</a:t>
            </a:r>
            <a:r>
              <a:rPr lang="ja-JP" altLang="en-US"/>
              <a:t>が</a:t>
            </a:r>
            <a:r>
              <a:rPr lang="en-US" altLang="ja-JP" dirty="0"/>
              <a:t>20</a:t>
            </a:r>
            <a:r>
              <a:rPr lang="ja-JP" altLang="en-US"/>
              <a:t>回復すると解除</a:t>
            </a:r>
            <a:endParaRPr lang="en-US" altLang="ja-JP" dirty="0"/>
          </a:p>
          <a:p>
            <a:r>
              <a:rPr lang="ja-JP" altLang="en-US"/>
              <a:t>狂気</a:t>
            </a:r>
            <a:r>
              <a:rPr lang="en-US" altLang="ja-JP" dirty="0"/>
              <a:t> : </a:t>
            </a:r>
            <a:r>
              <a:rPr lang="ja-JP" altLang="en-US"/>
              <a:t>攻撃対象を選択できず、自分のキャラを含めて攻撃対象を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ダイスで決める。　</a:t>
            </a:r>
            <a:r>
              <a:rPr lang="en-US" altLang="ja-JP" dirty="0"/>
              <a:t>2</a:t>
            </a:r>
            <a:r>
              <a:rPr lang="ja-JP" altLang="en-US"/>
              <a:t>ターンで解除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/>
              <a:t>そのほかにもいろいろある</a:t>
            </a:r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A7C12E1-DF40-42D6-FF5F-45D65B484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016" y="4640263"/>
            <a:ext cx="130810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73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360C56-3DBB-3B18-6F72-3FBED8F1C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詳細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4F9CC8-D945-DFB5-150D-A46700746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0</a:t>
            </a:r>
            <a:r>
              <a:rPr kumimoji="1" lang="ja-JP" altLang="en-US"/>
              <a:t>ダメージとミスは違う</a:t>
            </a:r>
            <a:endParaRPr kumimoji="1" lang="en-US" altLang="ja-JP" dirty="0"/>
          </a:p>
          <a:p>
            <a:r>
              <a:rPr lang="ja-JP" altLang="en-US"/>
              <a:t>位置について</a:t>
            </a:r>
            <a:r>
              <a:rPr lang="en-US" altLang="ja-JP" dirty="0"/>
              <a:t> : </a:t>
            </a:r>
            <a:r>
              <a:rPr lang="ja-JP" altLang="en-US"/>
              <a:t>前衛</a:t>
            </a:r>
            <a:r>
              <a:rPr lang="en-US" altLang="ja-JP" dirty="0"/>
              <a:t> = </a:t>
            </a:r>
            <a:r>
              <a:rPr lang="ja-JP" altLang="en-US"/>
              <a:t>フロントレンジ</a:t>
            </a:r>
            <a:r>
              <a:rPr lang="en-US" altLang="ja-JP" dirty="0"/>
              <a:t> , </a:t>
            </a:r>
            <a:r>
              <a:rPr lang="ja-JP" altLang="en-US"/>
              <a:t>後衛　</a:t>
            </a:r>
            <a:r>
              <a:rPr lang="en-US" altLang="ja-JP" dirty="0"/>
              <a:t>= </a:t>
            </a:r>
            <a:r>
              <a:rPr lang="ja-JP" altLang="en-US"/>
              <a:t>バックレンジ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/>
              <a:t>タイプも追加した</a:t>
            </a:r>
            <a:endParaRPr lang="en-US" altLang="ja-JP" dirty="0"/>
          </a:p>
          <a:p>
            <a:r>
              <a:rPr kumimoji="1" lang="en-US" altLang="ja-JP" dirty="0"/>
              <a:t>(</a:t>
            </a:r>
            <a:r>
              <a:rPr kumimoji="1" lang="ja-JP" altLang="en-US"/>
              <a:t>サポートとか</a:t>
            </a:r>
            <a:r>
              <a:rPr kumimoji="1" lang="en-US" altLang="ja-JP" dirty="0"/>
              <a:t>)</a:t>
            </a:r>
          </a:p>
          <a:p>
            <a:endParaRPr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1291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13343C-826D-EECF-ABE9-24F46082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発動条件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8AC527-6C08-6788-9B47-AC40CD91B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○は自分のターンに任意発動可能</a:t>
            </a:r>
            <a:endParaRPr kumimoji="1" lang="en-US" altLang="ja-JP" dirty="0"/>
          </a:p>
          <a:p>
            <a:r>
              <a:rPr lang="ja-JP" altLang="en-US"/>
              <a:t>○</a:t>
            </a:r>
            <a:r>
              <a:rPr lang="en-US" altLang="ja-JP" dirty="0"/>
              <a:t>&lt;&gt; </a:t>
            </a:r>
            <a:r>
              <a:rPr lang="ja-JP" altLang="en-US"/>
              <a:t>は</a:t>
            </a:r>
            <a:r>
              <a:rPr lang="en-US" altLang="ja-JP" dirty="0"/>
              <a:t>&lt;&gt;</a:t>
            </a:r>
            <a:r>
              <a:rPr lang="ja-JP" altLang="en-US"/>
              <a:t>内の条件であれば発動可能</a:t>
            </a:r>
            <a:endParaRPr lang="en-US" altLang="ja-JP" dirty="0"/>
          </a:p>
          <a:p>
            <a:r>
              <a:rPr kumimoji="1" lang="ja-JP" altLang="en-US"/>
              <a:t>注意マーク</a:t>
            </a:r>
            <a:r>
              <a:rPr kumimoji="1" lang="en-US" altLang="ja-JP" dirty="0"/>
              <a:t>(</a:t>
            </a:r>
            <a:r>
              <a:rPr kumimoji="1" lang="ja-JP" altLang="en-US"/>
              <a:t>三角に</a:t>
            </a:r>
            <a:r>
              <a:rPr kumimoji="1" lang="en-US" altLang="ja-JP" dirty="0"/>
              <a:t>!)</a:t>
            </a:r>
            <a:r>
              <a:rPr kumimoji="1" lang="ja-JP" altLang="en-US"/>
              <a:t>は強制発動</a:t>
            </a:r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8803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A7C687-46B4-8A07-273F-3F26BCF4D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レア度の決め方とか</a:t>
            </a:r>
            <a:r>
              <a:rPr kumimoji="1" lang="en-US" altLang="ja-JP" dirty="0"/>
              <a:t> (</a:t>
            </a:r>
            <a:r>
              <a:rPr kumimoji="1" lang="ja-JP" altLang="en-US"/>
              <a:t>デッキコストシステム</a:t>
            </a:r>
            <a:r>
              <a:rPr kumimoji="1" lang="en-US" altLang="ja-JP" dirty="0"/>
              <a:t>?)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3141E6-F7E6-8532-243C-61196257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N   1</a:t>
            </a:r>
          </a:p>
          <a:p>
            <a:r>
              <a:rPr lang="en-US" altLang="ja-JP" dirty="0"/>
              <a:t>NR  2</a:t>
            </a:r>
          </a:p>
          <a:p>
            <a:r>
              <a:rPr kumimoji="1" lang="en-US" altLang="ja-JP" dirty="0"/>
              <a:t>R  3</a:t>
            </a:r>
          </a:p>
          <a:p>
            <a:r>
              <a:rPr lang="en-US" altLang="ja-JP" dirty="0"/>
              <a:t>SR  4</a:t>
            </a:r>
          </a:p>
          <a:p>
            <a:r>
              <a:rPr kumimoji="1" lang="en-US" altLang="ja-JP" dirty="0"/>
              <a:t>UR  5</a:t>
            </a:r>
          </a:p>
          <a:p>
            <a:r>
              <a:rPr lang="en-US" altLang="ja-JP" dirty="0"/>
              <a:t>OR  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207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499445-F8D0-EA06-3409-B9736701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コスト　（総合パワー）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C84CF9-087D-0A98-D01A-0963255FB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コスト</a:t>
            </a:r>
            <a:r>
              <a:rPr lang="en-US" altLang="ja-JP" dirty="0"/>
              <a:t>0 = power 40</a:t>
            </a:r>
          </a:p>
          <a:p>
            <a:r>
              <a:rPr kumimoji="1" lang="ja-JP" altLang="en-US"/>
              <a:t>コスト</a:t>
            </a:r>
            <a:r>
              <a:rPr kumimoji="1" lang="en-US" altLang="ja-JP" dirty="0"/>
              <a:t> +1</a:t>
            </a:r>
            <a:r>
              <a:rPr kumimoji="1" lang="ja-JP" altLang="en-US"/>
              <a:t>のたび</a:t>
            </a:r>
            <a:r>
              <a:rPr kumimoji="1" lang="en-US" altLang="ja-JP" dirty="0"/>
              <a:t> power+ 20</a:t>
            </a:r>
          </a:p>
          <a:p>
            <a:endParaRPr lang="en-US" altLang="ja-JP" dirty="0"/>
          </a:p>
          <a:p>
            <a:r>
              <a:rPr kumimoji="1" lang="ja-JP" altLang="en-US"/>
              <a:t>強い技は</a:t>
            </a:r>
            <a:r>
              <a:rPr kumimoji="1" lang="en-US" altLang="ja-JP" dirty="0"/>
              <a:t>power 10</a:t>
            </a:r>
          </a:p>
          <a:p>
            <a:endParaRPr lang="en-US" altLang="ja-JP" dirty="0"/>
          </a:p>
          <a:p>
            <a:r>
              <a:rPr kumimoji="1" lang="ja-JP" altLang="en-US"/>
              <a:t>ドローはコスト</a:t>
            </a:r>
            <a:r>
              <a:rPr lang="en-US" altLang="ja-JP" dirty="0"/>
              <a:t>3 </a:t>
            </a:r>
            <a:r>
              <a:rPr lang="ja-JP" altLang="en-US"/>
              <a:t>で　リリースあれば</a:t>
            </a:r>
            <a:r>
              <a:rPr lang="en-US" altLang="ja-JP" dirty="0"/>
              <a:t>-1</a:t>
            </a:r>
            <a:r>
              <a:rPr lang="ja-JP" altLang="en-US"/>
              <a:t>かな</a:t>
            </a:r>
            <a:endParaRPr lang="en-US" altLang="ja-JP" dirty="0"/>
          </a:p>
          <a:p>
            <a:r>
              <a:rPr kumimoji="1" lang="ja-JP" altLang="en-US"/>
              <a:t>サーチは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8260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8F1451-3D5A-D0A3-D407-197396297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属性のコンセプト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5FBAA1-0413-02C7-5F62-DA0819D88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火</a:t>
            </a:r>
            <a:r>
              <a:rPr kumimoji="1" lang="en-US" altLang="ja-JP" dirty="0"/>
              <a:t> </a:t>
            </a:r>
            <a:r>
              <a:rPr kumimoji="1" lang="ja-JP" altLang="en-US"/>
              <a:t>パワー</a:t>
            </a:r>
            <a:endParaRPr kumimoji="1" lang="en-US" altLang="ja-JP" dirty="0"/>
          </a:p>
          <a:p>
            <a:r>
              <a:rPr lang="ja-JP" altLang="en-US"/>
              <a:t>水</a:t>
            </a:r>
            <a:r>
              <a:rPr lang="en-US" altLang="ja-JP" dirty="0"/>
              <a:t> </a:t>
            </a:r>
            <a:r>
              <a:rPr lang="ja-JP" altLang="en-US"/>
              <a:t>ヒール　</a:t>
            </a:r>
            <a:r>
              <a:rPr lang="en-US" altLang="ja-JP" dirty="0"/>
              <a:t>(</a:t>
            </a:r>
            <a:r>
              <a:rPr lang="ja-JP" altLang="en-US"/>
              <a:t>じっくり</a:t>
            </a:r>
            <a:r>
              <a:rPr lang="en-US" altLang="ja-JP" dirty="0"/>
              <a:t>)</a:t>
            </a:r>
          </a:p>
          <a:p>
            <a:r>
              <a:rPr kumimoji="1" lang="ja-JP" altLang="en-US"/>
              <a:t>草</a:t>
            </a:r>
            <a:r>
              <a:rPr kumimoji="1" lang="en-US" altLang="ja-JP" dirty="0"/>
              <a:t> </a:t>
            </a:r>
            <a:r>
              <a:rPr lang="ja-JP" altLang="en-US"/>
              <a:t>ラック</a:t>
            </a:r>
            <a:endParaRPr lang="en-US" altLang="ja-JP" dirty="0"/>
          </a:p>
          <a:p>
            <a:r>
              <a:rPr kumimoji="1" lang="ja-JP" altLang="en-US"/>
              <a:t>無</a:t>
            </a:r>
            <a:r>
              <a:rPr kumimoji="1" lang="en-US" altLang="ja-JP" dirty="0"/>
              <a:t> </a:t>
            </a:r>
            <a:r>
              <a:rPr kumimoji="1" lang="ja-JP" altLang="en-US"/>
              <a:t>特に　ドロー</a:t>
            </a:r>
            <a:endParaRPr kumimoji="1" lang="en-US" altLang="ja-JP" dirty="0"/>
          </a:p>
          <a:p>
            <a:r>
              <a:rPr lang="ja-JP" altLang="en-US"/>
              <a:t>闇</a:t>
            </a:r>
            <a:r>
              <a:rPr lang="en-US" altLang="ja-JP" dirty="0"/>
              <a:t> </a:t>
            </a:r>
            <a:r>
              <a:rPr lang="ja-JP" altLang="en-US"/>
              <a:t>デバフ</a:t>
            </a:r>
            <a:r>
              <a:rPr lang="en-US" altLang="ja-JP" dirty="0"/>
              <a:t> </a:t>
            </a:r>
            <a:r>
              <a:rPr lang="ja-JP" altLang="en-US"/>
              <a:t>妨害</a:t>
            </a:r>
            <a:endParaRPr lang="en-US" altLang="ja-JP" dirty="0"/>
          </a:p>
          <a:p>
            <a:r>
              <a:rPr kumimoji="1" lang="ja-JP" altLang="en-US"/>
              <a:t>光</a:t>
            </a:r>
            <a:r>
              <a:rPr kumimoji="1" lang="en-US" altLang="ja-JP" dirty="0"/>
              <a:t> </a:t>
            </a:r>
            <a:r>
              <a:rPr kumimoji="1" lang="ja-JP" altLang="en-US"/>
              <a:t>逆転</a:t>
            </a:r>
            <a:r>
              <a:rPr kumimoji="1" lang="en-US" altLang="ja-JP" dirty="0"/>
              <a:t> </a:t>
            </a:r>
            <a:r>
              <a:rPr kumimoji="1" lang="ja-JP" altLang="en-US"/>
              <a:t>展開</a:t>
            </a:r>
            <a:endParaRPr kumimoji="1" lang="en-US" altLang="ja-JP" dirty="0"/>
          </a:p>
          <a:p>
            <a:r>
              <a:rPr lang="ja-JP" altLang="en-US"/>
              <a:t>雷</a:t>
            </a:r>
            <a:r>
              <a:rPr lang="en-US" altLang="ja-JP" dirty="0"/>
              <a:t> </a:t>
            </a:r>
            <a:r>
              <a:rPr lang="ja-JP" altLang="en-US"/>
              <a:t>速攻</a:t>
            </a:r>
            <a:endParaRPr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475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12907</TotalTime>
  <Words>1289</Words>
  <Application>Microsoft Macintosh PowerPoint</Application>
  <PresentationFormat>ワイド画面</PresentationFormat>
  <Paragraphs>169</Paragraphs>
  <Slides>28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3" baseType="lpstr">
      <vt:lpstr>游ゴシック</vt:lpstr>
      <vt:lpstr>游ゴシック Light</vt:lpstr>
      <vt:lpstr>游明朝</vt:lpstr>
      <vt:lpstr>Arial</vt:lpstr>
      <vt:lpstr>Office テーマ</vt:lpstr>
      <vt:lpstr>TRPG風カードゲーム</vt:lpstr>
      <vt:lpstr>背景</vt:lpstr>
      <vt:lpstr>勝利条件</vt:lpstr>
      <vt:lpstr>デッキの条件</vt:lpstr>
      <vt:lpstr>フィールド</vt:lpstr>
      <vt:lpstr>PowerPoint プレゼンテーション</vt:lpstr>
      <vt:lpstr>ゲームの流れ 概要</vt:lpstr>
      <vt:lpstr>カードの種類</vt:lpstr>
      <vt:lpstr>キャラクターカード</vt:lpstr>
      <vt:lpstr>キャラの耐性 属性</vt:lpstr>
      <vt:lpstr>サポートカード</vt:lpstr>
      <vt:lpstr>コアカード</vt:lpstr>
      <vt:lpstr>対戦の進め方</vt:lpstr>
      <vt:lpstr>対戦に使うもの</vt:lpstr>
      <vt:lpstr>対戦の準備</vt:lpstr>
      <vt:lpstr>対戦の流れ</vt:lpstr>
      <vt:lpstr>1.ドローフェーズ</vt:lpstr>
      <vt:lpstr>2. マナフェーズ</vt:lpstr>
      <vt:lpstr>3. セットフェーズ</vt:lpstr>
      <vt:lpstr>4. バトルフェーズ</vt:lpstr>
      <vt:lpstr>5. エンドフェーズ</vt:lpstr>
      <vt:lpstr>PowerPoint プレゼンテーション</vt:lpstr>
      <vt:lpstr>基本の状態異常</vt:lpstr>
      <vt:lpstr>詳細</vt:lpstr>
      <vt:lpstr>発動条件</vt:lpstr>
      <vt:lpstr>レア度の決め方とか (デッキコストシステム?)</vt:lpstr>
      <vt:lpstr>コスト　（総合パワー）</vt:lpstr>
      <vt:lpstr>属性のコンセプト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IWAMOTO SHO</dc:creator>
  <cp:lastModifiedBy>IWAMOTO SHO</cp:lastModifiedBy>
  <cp:revision>8</cp:revision>
  <dcterms:created xsi:type="dcterms:W3CDTF">2024-08-30T18:11:17Z</dcterms:created>
  <dcterms:modified xsi:type="dcterms:W3CDTF">2024-10-15T04:58:15Z</dcterms:modified>
</cp:coreProperties>
</file>